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handoutMasterIdLst>
    <p:handoutMasterId r:id="rId34"/>
  </p:handoutMasterIdLst>
  <p:sldIdLst>
    <p:sldId id="256" r:id="rId2"/>
    <p:sldId id="311" r:id="rId3"/>
    <p:sldId id="263" r:id="rId4"/>
    <p:sldId id="281" r:id="rId5"/>
    <p:sldId id="314" r:id="rId6"/>
    <p:sldId id="319" r:id="rId7"/>
    <p:sldId id="324" r:id="rId8"/>
    <p:sldId id="313" r:id="rId9"/>
    <p:sldId id="307" r:id="rId10"/>
    <p:sldId id="315" r:id="rId11"/>
    <p:sldId id="318" r:id="rId12"/>
    <p:sldId id="325" r:id="rId13"/>
    <p:sldId id="326" r:id="rId14"/>
    <p:sldId id="327" r:id="rId15"/>
    <p:sldId id="328" r:id="rId16"/>
    <p:sldId id="329" r:id="rId17"/>
    <p:sldId id="330" r:id="rId18"/>
    <p:sldId id="331" r:id="rId19"/>
    <p:sldId id="345" r:id="rId20"/>
    <p:sldId id="346" r:id="rId21"/>
    <p:sldId id="347" r:id="rId22"/>
    <p:sldId id="348" r:id="rId23"/>
    <p:sldId id="338" r:id="rId24"/>
    <p:sldId id="339" r:id="rId25"/>
    <p:sldId id="340" r:id="rId26"/>
    <p:sldId id="341" r:id="rId27"/>
    <p:sldId id="316" r:id="rId28"/>
    <p:sldId id="342" r:id="rId29"/>
    <p:sldId id="301" r:id="rId30"/>
    <p:sldId id="272" r:id="rId31"/>
    <p:sldId id="273"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79A3"/>
    <a:srgbClr val="D1D7F0"/>
    <a:srgbClr val="08E7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5033" autoAdjust="0"/>
  </p:normalViewPr>
  <p:slideViewPr>
    <p:cSldViewPr showGuides="1">
      <p:cViewPr varScale="1">
        <p:scale>
          <a:sx n="78" d="100"/>
          <a:sy n="78" d="100"/>
        </p:scale>
        <p:origin x="1555" y="72"/>
      </p:cViewPr>
      <p:guideLst>
        <p:guide orient="horz" pos="2160"/>
        <p:guide pos="28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F07742-7680-4C0C-8DDF-4BAA8DEDBD6D}" type="datetimeFigureOut">
              <a:rPr lang="en-US" smtClean="0"/>
              <a:t>1/9/2026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9ED113-25DA-43F9-8910-28F1C5D240C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29ED113-25DA-43F9-8910-28F1C5D240C7}"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29ED113-25DA-43F9-8910-28F1C5D240C7}"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fld id="{1B9E7E79-9E41-410A-A7E8-3127AA2C8FD2}" type="datetime1">
              <a:rPr lang="en-US" smtClean="0"/>
              <a:t>1/9/2026</a:t>
            </a:fld>
            <a:endParaRPr lang="en-US"/>
          </a:p>
        </p:txBody>
      </p:sp>
      <p:sp>
        <p:nvSpPr>
          <p:cNvPr id="20" name="Footer Placeholder 19"/>
          <p:cNvSpPr>
            <a:spLocks noGrp="1"/>
          </p:cNvSpPr>
          <p:nvPr>
            <p:ph type="ftr" sz="quarter" idx="11"/>
          </p:nvPr>
        </p:nvSpPr>
        <p:spPr/>
        <p:txBody>
          <a:bodyPr/>
          <a:lstStyle/>
          <a:p>
            <a:r>
              <a:rPr lang="en-US"/>
              <a:t>PREDICTIVE ANALYTICS ON TWITTER SENTIMENT DATA</a:t>
            </a:r>
          </a:p>
        </p:txBody>
      </p:sp>
      <p:sp>
        <p:nvSpPr>
          <p:cNvPr id="10" name="Slide Number Placeholder 9"/>
          <p:cNvSpPr>
            <a:spLocks noGrp="1"/>
          </p:cNvSpPr>
          <p:nvPr>
            <p:ph type="sldNum" sz="quarter" idx="12"/>
          </p:nvPr>
        </p:nvSpPr>
        <p:spPr/>
        <p:txBody>
          <a:bodyPr/>
          <a:lstStyle/>
          <a:p>
            <a:fld id="{348AA8EC-93FC-4A73-8ED3-9C6F6CB809D0}"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248400" y="6305550"/>
            <a:ext cx="2133600" cy="476250"/>
          </a:xfrm>
        </p:spPr>
        <p:txBody>
          <a:bodyPr/>
          <a:lstStyle/>
          <a:p>
            <a:fld id="{4D0963B2-FB2E-423E-BC1E-A1D53988B8AF}" type="datetime1">
              <a:rPr lang="en-US" smtClean="0"/>
              <a:t>1/9/2026</a:t>
            </a:fld>
            <a:endParaRPr lang="en-US" dirty="0"/>
          </a:p>
        </p:txBody>
      </p:sp>
      <p:sp>
        <p:nvSpPr>
          <p:cNvPr id="5" name="Footer Placeholder 4"/>
          <p:cNvSpPr>
            <a:spLocks noGrp="1"/>
          </p:cNvSpPr>
          <p:nvPr>
            <p:ph type="ftr" sz="quarter" idx="11"/>
          </p:nvPr>
        </p:nvSpPr>
        <p:spPr>
          <a:xfrm>
            <a:off x="990600" y="6381750"/>
            <a:ext cx="2895600" cy="476250"/>
          </a:xfrm>
        </p:spPr>
        <p:txBody>
          <a:bodyPr/>
          <a:lstStyle/>
          <a:p>
            <a:r>
              <a:rPr lang="en-US" dirty="0"/>
              <a:t>PREDICTIVE ANALYTICS ON TWITTER SENTIMENT DATA</a:t>
            </a:r>
          </a:p>
        </p:txBody>
      </p:sp>
      <p:sp>
        <p:nvSpPr>
          <p:cNvPr id="6" name="Slide Number Placeholder 5"/>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F107266-E1A6-494B-B47A-6B8DB13B673E}" type="datetime1">
              <a:rPr lang="en-US" smtClean="0"/>
              <a:t>1/9/2026</a:t>
            </a:fld>
            <a:endParaRPr lang="en-US"/>
          </a:p>
        </p:txBody>
      </p:sp>
      <p:sp>
        <p:nvSpPr>
          <p:cNvPr id="5" name="Footer Placeholder 4"/>
          <p:cNvSpPr>
            <a:spLocks noGrp="1"/>
          </p:cNvSpPr>
          <p:nvPr>
            <p:ph type="ftr" sz="quarter" idx="11"/>
          </p:nvPr>
        </p:nvSpPr>
        <p:spPr/>
        <p:txBody>
          <a:bodyPr/>
          <a:lstStyle/>
          <a:p>
            <a:r>
              <a:rPr lang="en-US"/>
              <a:t>PREDICTIVE ANALYTICS ON TWITTER SENTIMENT DATA</a:t>
            </a:r>
          </a:p>
        </p:txBody>
      </p:sp>
      <p:sp>
        <p:nvSpPr>
          <p:cNvPr id="6" name="Slide Number Placeholder 5"/>
          <p:cNvSpPr>
            <a:spLocks noGrp="1"/>
          </p:cNvSpPr>
          <p:nvPr>
            <p:ph type="sldNum" sz="quarter" idx="12"/>
          </p:nvPr>
        </p:nvSpPr>
        <p:spPr/>
        <p:txBody>
          <a:bodyPr/>
          <a:lstStyle/>
          <a:p>
            <a:fld id="{348AA8EC-93FC-4A73-8ED3-9C6F6CB809D0}"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E905675-5279-463D-8FF8-304092E20596}" type="datetime1">
              <a:rPr lang="en-US" smtClean="0"/>
              <a:t>1/9/2026</a:t>
            </a:fld>
            <a:endParaRPr lang="en-US"/>
          </a:p>
        </p:txBody>
      </p:sp>
      <p:sp>
        <p:nvSpPr>
          <p:cNvPr id="6" name="Footer Placeholder 5"/>
          <p:cNvSpPr>
            <a:spLocks noGrp="1"/>
          </p:cNvSpPr>
          <p:nvPr>
            <p:ph type="ftr" sz="quarter" idx="11"/>
          </p:nvPr>
        </p:nvSpPr>
        <p:spPr/>
        <p:txBody>
          <a:bodyPr/>
          <a:lstStyle/>
          <a:p>
            <a:r>
              <a:rPr lang="en-US"/>
              <a:t>PREDICTIVE ANALYTICS ON TWITTER SENTIMENT DATA</a:t>
            </a:r>
          </a:p>
        </p:txBody>
      </p:sp>
      <p:sp>
        <p:nvSpPr>
          <p:cNvPr id="7" name="Slide Number Placeholder 6"/>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22312EA-86A5-482F-859C-AD0A0FCE6DBD}" type="datetime1">
              <a:rPr lang="en-US" smtClean="0"/>
              <a:t>1/9/2026</a:t>
            </a:fld>
            <a:endParaRPr lang="en-US"/>
          </a:p>
        </p:txBody>
      </p:sp>
      <p:sp>
        <p:nvSpPr>
          <p:cNvPr id="8" name="Footer Placeholder 7"/>
          <p:cNvSpPr>
            <a:spLocks noGrp="1"/>
          </p:cNvSpPr>
          <p:nvPr>
            <p:ph type="ftr" sz="quarter" idx="11"/>
          </p:nvPr>
        </p:nvSpPr>
        <p:spPr/>
        <p:txBody>
          <a:bodyPr/>
          <a:lstStyle/>
          <a:p>
            <a:r>
              <a:rPr lang="en-US"/>
              <a:t>PREDICTIVE ANALYTICS ON TWITTER SENTIMENT DATA</a:t>
            </a:r>
          </a:p>
        </p:txBody>
      </p:sp>
      <p:sp>
        <p:nvSpPr>
          <p:cNvPr id="9" name="Slide Number Placeholder 8"/>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909F3E63-A397-4A74-82A5-73D578B64831}" type="datetime1">
              <a:rPr lang="en-US" smtClean="0"/>
              <a:t>1/9/2026</a:t>
            </a:fld>
            <a:endParaRPr lang="en-US"/>
          </a:p>
        </p:txBody>
      </p:sp>
      <p:sp>
        <p:nvSpPr>
          <p:cNvPr id="4" name="Footer Placeholder 3"/>
          <p:cNvSpPr>
            <a:spLocks noGrp="1"/>
          </p:cNvSpPr>
          <p:nvPr>
            <p:ph type="ftr" sz="quarter" idx="11"/>
          </p:nvPr>
        </p:nvSpPr>
        <p:spPr/>
        <p:txBody>
          <a:bodyPr/>
          <a:lstStyle/>
          <a:p>
            <a:r>
              <a:rPr lang="en-US"/>
              <a:t>PREDICTIVE ANALYTICS ON TWITTER SENTIMENT DATA</a:t>
            </a:r>
          </a:p>
        </p:txBody>
      </p:sp>
      <p:sp>
        <p:nvSpPr>
          <p:cNvPr id="5" name="Slide Number Placeholder 4"/>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A9B1F81F-2A9B-4032-A3E2-9BC937182F42}" type="datetime1">
              <a:rPr lang="en-US" smtClean="0"/>
              <a:t>1/9/2026</a:t>
            </a:fld>
            <a:endParaRPr lang="en-US"/>
          </a:p>
        </p:txBody>
      </p:sp>
      <p:sp>
        <p:nvSpPr>
          <p:cNvPr id="3" name="Footer Placeholder 2"/>
          <p:cNvSpPr>
            <a:spLocks noGrp="1"/>
          </p:cNvSpPr>
          <p:nvPr>
            <p:ph type="ftr" sz="quarter" idx="11"/>
          </p:nvPr>
        </p:nvSpPr>
        <p:spPr/>
        <p:txBody>
          <a:bodyPr/>
          <a:lstStyle/>
          <a:p>
            <a:r>
              <a:rPr lang="en-US"/>
              <a:t>PREDICTIVE ANALYTICS ON TWITTER SENTIMENT DATA</a:t>
            </a:r>
          </a:p>
        </p:txBody>
      </p:sp>
      <p:sp>
        <p:nvSpPr>
          <p:cNvPr id="4" name="Slide Number Placeholder 3"/>
          <p:cNvSpPr>
            <a:spLocks noGrp="1"/>
          </p:cNvSpPr>
          <p:nvPr>
            <p:ph type="sldNum" sz="quarter" idx="12"/>
          </p:nvPr>
        </p:nvSpPr>
        <p:spPr/>
        <p:txBody>
          <a:bodyPr/>
          <a:lstStyle/>
          <a:p>
            <a:fld id="{348AA8EC-93FC-4A73-8ED3-9C6F6CB809D0}"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5A19789-9D72-4BEA-AA33-A47182B643F3}" type="datetime1">
              <a:rPr lang="en-US" smtClean="0"/>
              <a:t>1/9/2026</a:t>
            </a:fld>
            <a:endParaRPr lang="en-US"/>
          </a:p>
        </p:txBody>
      </p:sp>
      <p:sp>
        <p:nvSpPr>
          <p:cNvPr id="6" name="Footer Placeholder 5"/>
          <p:cNvSpPr>
            <a:spLocks noGrp="1"/>
          </p:cNvSpPr>
          <p:nvPr>
            <p:ph type="ftr" sz="quarter" idx="11"/>
          </p:nvPr>
        </p:nvSpPr>
        <p:spPr/>
        <p:txBody>
          <a:bodyPr/>
          <a:lstStyle/>
          <a:p>
            <a:r>
              <a:rPr lang="en-US"/>
              <a:t>PREDICTIVE ANALYTICS ON TWITTER SENTIMENT DATA</a:t>
            </a:r>
          </a:p>
        </p:txBody>
      </p:sp>
      <p:sp>
        <p:nvSpPr>
          <p:cNvPr id="7" name="Slide Number Placeholder 6"/>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fld id="{80701C04-CBC0-4AB0-843E-DCC7EB3CC6E3}" type="datetime1">
              <a:rPr lang="en-US" smtClean="0"/>
              <a:t>1/9/2026</a:t>
            </a:fld>
            <a:endParaRPr lang="en-US"/>
          </a:p>
        </p:txBody>
      </p:sp>
      <p:sp>
        <p:nvSpPr>
          <p:cNvPr id="6" name="Footer Placeholder 5"/>
          <p:cNvSpPr>
            <a:spLocks noGrp="1"/>
          </p:cNvSpPr>
          <p:nvPr>
            <p:ph type="ftr" sz="quarter" idx="11"/>
          </p:nvPr>
        </p:nvSpPr>
        <p:spPr/>
        <p:txBody>
          <a:bodyPr/>
          <a:lstStyle/>
          <a:p>
            <a:r>
              <a:rPr lang="en-US"/>
              <a:t>PREDICTIVE ANALYTICS ON TWITTER SENTIMENT DATA</a:t>
            </a:r>
          </a:p>
        </p:txBody>
      </p:sp>
      <p:sp>
        <p:nvSpPr>
          <p:cNvPr id="7" name="Slide Number Placeholder 6"/>
          <p:cNvSpPr>
            <a:spLocks noGrp="1"/>
          </p:cNvSpPr>
          <p:nvPr>
            <p:ph type="sldNum" sz="quarter" idx="12"/>
          </p:nvPr>
        </p:nvSpPr>
        <p:spPr/>
        <p:txBody>
          <a:bodyPr/>
          <a:lstStyle/>
          <a:p>
            <a:fld id="{348AA8EC-93FC-4A73-8ED3-9C6F6CB809D0}"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1B67EEE-62C7-4065-9ABA-D61BD508698E}" type="datetime1">
              <a:rPr lang="en-US" smtClean="0"/>
              <a:t>1/9/2026</a:t>
            </a:fld>
            <a:endParaRPr lang="en-US"/>
          </a:p>
        </p:txBody>
      </p:sp>
      <p:sp>
        <p:nvSpPr>
          <p:cNvPr id="5" name="Footer Placeholder 4"/>
          <p:cNvSpPr>
            <a:spLocks noGrp="1"/>
          </p:cNvSpPr>
          <p:nvPr>
            <p:ph type="ftr" sz="quarter" idx="11"/>
          </p:nvPr>
        </p:nvSpPr>
        <p:spPr/>
        <p:txBody>
          <a:bodyPr/>
          <a:lstStyle/>
          <a:p>
            <a:r>
              <a:rPr lang="en-US"/>
              <a:t>PREDICTIVE ANALYTICS ON TWITTER SENTIMENT DATA</a:t>
            </a:r>
          </a:p>
        </p:txBody>
      </p:sp>
      <p:sp>
        <p:nvSpPr>
          <p:cNvPr id="6" name="Slide Number Placeholder 5"/>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10A098-3A25-4B26-9F5A-29F36302ABD2}" type="datetime1">
              <a:rPr lang="en-US" smtClean="0"/>
              <a:t>1/9/2026</a:t>
            </a:fld>
            <a:endParaRPr lang="en-US"/>
          </a:p>
        </p:txBody>
      </p:sp>
      <p:sp>
        <p:nvSpPr>
          <p:cNvPr id="5" name="Footer Placeholder 4"/>
          <p:cNvSpPr>
            <a:spLocks noGrp="1"/>
          </p:cNvSpPr>
          <p:nvPr>
            <p:ph type="ftr" sz="quarter" idx="11"/>
          </p:nvPr>
        </p:nvSpPr>
        <p:spPr/>
        <p:txBody>
          <a:bodyPr/>
          <a:lstStyle/>
          <a:p>
            <a:r>
              <a:rPr lang="en-US"/>
              <a:t>PREDICTIVE ANALYTICS ON TWITTER SENTIMENT DATA</a:t>
            </a:r>
          </a:p>
        </p:txBody>
      </p:sp>
      <p:sp>
        <p:nvSpPr>
          <p:cNvPr id="6" name="Slide Number Placeholder 5"/>
          <p:cNvSpPr>
            <a:spLocks noGrp="1"/>
          </p:cNvSpPr>
          <p:nvPr>
            <p:ph type="sldNum" sz="quarter" idx="12"/>
          </p:nvPr>
        </p:nvSpPr>
        <p:spPr/>
        <p:txBody>
          <a:bodyPr/>
          <a:lstStyle/>
          <a:p>
            <a:fld id="{348AA8EC-93FC-4A73-8ED3-9C6F6CB809D0}" type="slidenum">
              <a:rPr lang="en-US" smtClean="0"/>
              <a:t>‹#›</a:t>
            </a:fld>
            <a:endParaRPr 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BEACA0C1-67C3-470D-AB03-E01127AEFF4C}" type="datetime1">
              <a:rPr lang="en-US" smtClean="0"/>
              <a:t>1/9/2026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r>
              <a:rPr lang="en-US"/>
              <a:t>PREDICTIVE ANALYTICS ON TWITTER SENTIMENT DATA</a:t>
            </a: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348AA8EC-93FC-4A73-8ED3-9C6F6CB809D0}"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3.jpeg"/><Relationship Id="rId10" Type="http://schemas.openxmlformats.org/officeDocument/2006/relationships/image" Target="../media/image9.pn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6.png"/><Relationship Id="rId2"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7"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7"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www.google.co.in/url?url=https://www.uniagents.com/en/institutions/kns-institute-of-technology/index.htm&amp;rct=j&amp;frm=1&amp;q=&amp;esrc=s&amp;sa=U&amp;ved=0ahUKEwi428yfw4DLAhVN1I4KHV78A_8QwW4IMzAG&amp;usg=AFQjCNFqmFnFXBb2ePcFzLO4o6K9Ux_UZ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14400"/>
            <a:ext cx="7696200" cy="1828800"/>
          </a:xfrm>
        </p:spPr>
        <p:txBody>
          <a:bodyPr>
            <a:normAutofit/>
          </a:bodyPr>
          <a:lstStyle/>
          <a:p>
            <a:pPr algn="ctr"/>
            <a:r>
              <a:rPr lang="en-US" sz="1800" dirty="0">
                <a:solidFill>
                  <a:srgbClr val="4F271C">
                    <a:shade val="30000"/>
                    <a:satMod val="150000"/>
                  </a:srgbClr>
                </a:solidFill>
                <a:effectLst/>
                <a:latin typeface="Times New Roman" panose="02020603050405020304" pitchFamily="18" charset="0"/>
                <a:cs typeface="Times New Roman" panose="02020603050405020304" pitchFamily="18" charset="0"/>
              </a:rPr>
              <a:t>PROJECT PHASE -I  PRESENTATION ON</a:t>
            </a:r>
            <a:br>
              <a:rPr lang="en-US" sz="1600" dirty="0">
                <a:solidFill>
                  <a:srgbClr val="4F271C">
                    <a:shade val="30000"/>
                    <a:satMod val="150000"/>
                  </a:srgbClr>
                </a:solidFill>
                <a:effectLst/>
                <a:latin typeface="Times New Roman" panose="02020603050405020304" pitchFamily="18" charset="0"/>
                <a:cs typeface="Times New Roman" panose="02020603050405020304" pitchFamily="18" charset="0"/>
              </a:rPr>
            </a:br>
            <a:br>
              <a:rPr lang="en-US" sz="2800" dirty="0">
                <a:solidFill>
                  <a:srgbClr val="4F271C">
                    <a:shade val="30000"/>
                    <a:satMod val="150000"/>
                  </a:srgbClr>
                </a:solidFill>
                <a:effectLst/>
                <a:latin typeface="Times New Roman" panose="02020603050405020304" pitchFamily="18" charset="0"/>
                <a:cs typeface="Times New Roman" panose="02020603050405020304" pitchFamily="18" charset="0"/>
              </a:rPr>
            </a:br>
            <a:r>
              <a:rPr lang="en-US" sz="2800" b="1" dirty="0">
                <a:solidFill>
                  <a:srgbClr val="4F271C">
                    <a:shade val="30000"/>
                    <a:satMod val="150000"/>
                  </a:srgbClr>
                </a:solidFill>
                <a:effectLst/>
                <a:latin typeface="Times New Roman" panose="02020603050405020304" pitchFamily="18" charset="0"/>
                <a:cs typeface="Times New Roman" panose="02020603050405020304" pitchFamily="18" charset="0"/>
              </a:rPr>
              <a:t>PREDICTIVE ANALYTICS ON SOCIAL MEDIA SENTIMENT DATA</a:t>
            </a:r>
            <a:endParaRPr lang="en-US" b="1" dirty="0"/>
          </a:p>
        </p:txBody>
      </p:sp>
      <p:sp>
        <p:nvSpPr>
          <p:cNvPr id="3" name="Subtitle 2"/>
          <p:cNvSpPr>
            <a:spLocks noGrp="1"/>
          </p:cNvSpPr>
          <p:nvPr>
            <p:ph type="subTitle" idx="1"/>
          </p:nvPr>
        </p:nvSpPr>
        <p:spPr>
          <a:xfrm>
            <a:off x="914400" y="2971800"/>
            <a:ext cx="8229600" cy="3581400"/>
          </a:xfrm>
        </p:spPr>
        <p:txBody>
          <a:bodyPr lIns="91440" tIns="0" rIns="91440" bIns="45720" anchor="t">
            <a:normAutofit fontScale="92500" lnSpcReduction="10000"/>
          </a:bodyPr>
          <a:lstStyle/>
          <a:p>
            <a:pPr lvl="0" algn="ctr">
              <a:buClr>
                <a:srgbClr val="D16349"/>
              </a:buClr>
            </a:pPr>
            <a:r>
              <a:rPr lang="en-US" sz="2000" dirty="0">
                <a:solidFill>
                  <a:prstClr val="black"/>
                </a:solidFill>
                <a:latin typeface="Times New Roman" panose="02020603050405020304" pitchFamily="18" charset="0"/>
                <a:cs typeface="Times New Roman" panose="02020603050405020304" pitchFamily="18" charset="0"/>
              </a:rPr>
              <a:t>Internal Guide                                                  </a:t>
            </a:r>
          </a:p>
          <a:p>
            <a:pPr lvl="0" algn="ctr">
              <a:buClr>
                <a:srgbClr val="D16349"/>
              </a:buClr>
            </a:pPr>
            <a:r>
              <a:rPr lang="en-US" sz="2000" dirty="0">
                <a:solidFill>
                  <a:prstClr val="black"/>
                </a:solidFill>
                <a:latin typeface="Times New Roman" panose="02020603050405020304"/>
                <a:cs typeface="Times New Roman" panose="02020603050405020304"/>
              </a:rPr>
              <a:t>  </a:t>
            </a:r>
            <a:r>
              <a:rPr lang="en-US" sz="2400" b="1" dirty="0">
                <a:solidFill>
                  <a:prstClr val="black"/>
                </a:solidFill>
                <a:latin typeface="Times New Roman" panose="02020603050405020304"/>
                <a:cs typeface="Times New Roman" panose="02020603050405020304"/>
              </a:rPr>
              <a:t>Mrs. Salma </a:t>
            </a:r>
            <a:r>
              <a:rPr lang="en-US" sz="2400" b="1" dirty="0" err="1">
                <a:solidFill>
                  <a:prstClr val="black"/>
                </a:solidFill>
                <a:latin typeface="Times New Roman" panose="02020603050405020304"/>
                <a:cs typeface="Times New Roman" panose="02020603050405020304"/>
              </a:rPr>
              <a:t>Hussainnaik</a:t>
            </a:r>
            <a:endParaRPr lang="en-US" sz="2400" b="1" dirty="0">
              <a:solidFill>
                <a:prstClr val="black"/>
              </a:solidFill>
              <a:latin typeface="Times New Roman" panose="02020603050405020304"/>
              <a:cs typeface="Times New Roman" panose="02020603050405020304"/>
            </a:endParaRPr>
          </a:p>
          <a:p>
            <a:pPr lvl="0" algn="ctr">
              <a:buClr>
                <a:srgbClr val="D16349"/>
              </a:buClr>
            </a:pPr>
            <a:r>
              <a:rPr lang="en-US" sz="2000" dirty="0">
                <a:solidFill>
                  <a:prstClr val="black"/>
                </a:solidFill>
                <a:latin typeface="Times New Roman" panose="02020603050405020304" pitchFamily="18" charset="0"/>
                <a:cs typeface="Times New Roman" panose="02020603050405020304" pitchFamily="18" charset="0"/>
              </a:rPr>
              <a:t>Asst. Professor</a:t>
            </a:r>
          </a:p>
          <a:p>
            <a:pPr algn="ctr">
              <a:buClr>
                <a:srgbClr val="D16349"/>
              </a:buClr>
            </a:pPr>
            <a:r>
              <a:rPr lang="en-US" sz="2000" dirty="0">
                <a:solidFill>
                  <a:prstClr val="black"/>
                </a:solidFill>
                <a:latin typeface="Times New Roman" panose="02020603050405020304" pitchFamily="18" charset="0"/>
                <a:cs typeface="Times New Roman" panose="02020603050405020304" pitchFamily="18" charset="0"/>
              </a:rPr>
              <a:t>Dept. of  AIML</a:t>
            </a:r>
          </a:p>
          <a:p>
            <a:pPr algn="ctr">
              <a:buClr>
                <a:srgbClr val="D16349"/>
              </a:buClr>
            </a:pPr>
            <a:r>
              <a:rPr lang="en-US" sz="2000" dirty="0">
                <a:solidFill>
                  <a:prstClr val="black"/>
                </a:solidFill>
                <a:latin typeface="Times New Roman" panose="02020603050405020304" pitchFamily="18" charset="0"/>
                <a:cs typeface="Times New Roman" panose="02020603050405020304" pitchFamily="18" charset="0"/>
              </a:rPr>
              <a:t>KNSIT</a:t>
            </a:r>
          </a:p>
          <a:p>
            <a:pPr algn="ctr">
              <a:buClr>
                <a:srgbClr val="D16349"/>
              </a:buClr>
            </a:pPr>
            <a:endParaRPr lang="en-US" sz="2000" dirty="0">
              <a:solidFill>
                <a:prstClr val="black"/>
              </a:solidFill>
              <a:latin typeface="Times New Roman" panose="02020603050405020304" pitchFamily="18" charset="0"/>
              <a:cs typeface="Times New Roman" panose="02020603050405020304" pitchFamily="18" charset="0"/>
            </a:endParaRPr>
          </a:p>
          <a:p>
            <a:pPr lvl="0">
              <a:buClr>
                <a:srgbClr val="D16349"/>
              </a:buClr>
            </a:pPr>
            <a:r>
              <a:rPr lang="en-US" sz="2000" dirty="0">
                <a:solidFill>
                  <a:prstClr val="black"/>
                </a:solidFill>
                <a:latin typeface="Times New Roman" panose="02020603050405020304" pitchFamily="18" charset="0"/>
                <a:cs typeface="Times New Roman" panose="02020603050405020304" pitchFamily="18" charset="0"/>
              </a:rPr>
              <a:t>                                                        Presented by    </a:t>
            </a:r>
          </a:p>
          <a:p>
            <a:pPr>
              <a:buClr>
                <a:srgbClr val="D16349"/>
              </a:buClr>
            </a:pPr>
            <a:r>
              <a:rPr lang="en-US" sz="2000" dirty="0">
                <a:solidFill>
                  <a:prstClr val="black"/>
                </a:solidFill>
                <a:latin typeface="Times New Roman" panose="02020603050405020304"/>
                <a:cs typeface="Times New Roman" panose="02020603050405020304"/>
              </a:rPr>
              <a:t> </a:t>
            </a:r>
          </a:p>
          <a:p>
            <a:pPr>
              <a:buClr>
                <a:srgbClr val="D16349"/>
              </a:buClr>
            </a:pPr>
            <a:r>
              <a:rPr lang="en-US" sz="2000" dirty="0">
                <a:solidFill>
                  <a:prstClr val="black"/>
                </a:solidFill>
                <a:latin typeface="Times New Roman" panose="02020603050405020304"/>
                <a:cs typeface="Times New Roman" panose="02020603050405020304"/>
              </a:rPr>
              <a:t>   MOHAMMED ASIF                                                   MOHAMMED SIDDIQ    </a:t>
            </a:r>
          </a:p>
          <a:p>
            <a:pPr lvl="0">
              <a:buClr>
                <a:srgbClr val="D16349"/>
              </a:buClr>
            </a:pPr>
            <a:r>
              <a:rPr lang="en-US" sz="2000" dirty="0">
                <a:solidFill>
                  <a:prstClr val="black"/>
                </a:solidFill>
                <a:latin typeface="Times New Roman" panose="02020603050405020304" pitchFamily="18" charset="0"/>
                <a:cs typeface="Times New Roman" panose="02020603050405020304" pitchFamily="18" charset="0"/>
              </a:rPr>
              <a:t>         1KN22AI025 	                                                    1KN22AI030</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93889"/>
            <a:ext cx="12684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descr="Image result for knsit logo">
            <a:hlinkClick r:id="rId4"/>
          </p:cNvPr>
          <p:cNvPicPr>
            <a:picLocks noChangeAspect="1" noChangeArrowheads="1"/>
          </p:cNvPicPr>
          <p:nvPr/>
        </p:nvPicPr>
        <p:blipFill>
          <a:blip r:embed="rId5"/>
          <a:srcRect/>
          <a:stretch>
            <a:fillRect/>
          </a:stretch>
        </p:blipFill>
        <p:spPr bwMode="auto">
          <a:xfrm>
            <a:off x="8077200" y="93889"/>
            <a:ext cx="962025" cy="9906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Contents</a:t>
            </a:r>
          </a:p>
        </p:txBody>
      </p:sp>
      <p:sp>
        <p:nvSpPr>
          <p:cNvPr id="3" name="Content Placeholder 2"/>
          <p:cNvSpPr>
            <a:spLocks noGrp="1"/>
          </p:cNvSpPr>
          <p:nvPr>
            <p:ph idx="1"/>
          </p:nvPr>
        </p:nvSpPr>
        <p:spPr/>
        <p:txBody>
          <a:bodyPr lIns="91440" tIns="45720" rIns="91440" bIns="45720" anchor="t">
            <a:normAutofit fontScale="92500" lnSpcReduction="20000"/>
          </a:bodyPr>
          <a:lstStyle/>
          <a:p>
            <a:r>
              <a:rPr lang="en-US" sz="2400" dirty="0">
                <a:latin typeface="Times New Roman"/>
                <a:cs typeface="Times New Roman"/>
              </a:rPr>
              <a:t>Abstract</a:t>
            </a:r>
          </a:p>
          <a:p>
            <a:r>
              <a:rPr lang="en-US" sz="2400" dirty="0">
                <a:latin typeface="Times New Roman"/>
                <a:cs typeface="Times New Roman"/>
              </a:rPr>
              <a:t>Introduction</a:t>
            </a:r>
          </a:p>
          <a:p>
            <a:r>
              <a:rPr lang="en-US" sz="2400" dirty="0">
                <a:latin typeface="Times New Roman"/>
                <a:cs typeface="Times New Roman"/>
              </a:rPr>
              <a:t>Literature Survey</a:t>
            </a:r>
          </a:p>
          <a:p>
            <a:r>
              <a:rPr lang="en-US" sz="2400" dirty="0">
                <a:latin typeface="Times New Roman"/>
                <a:cs typeface="Times New Roman"/>
              </a:rPr>
              <a:t>Objectives &amp; Methodology</a:t>
            </a:r>
          </a:p>
          <a:p>
            <a:r>
              <a:rPr lang="en-US" sz="2400" dirty="0">
                <a:latin typeface="Times New Roman"/>
                <a:cs typeface="Times New Roman"/>
              </a:rPr>
              <a:t>Block Diagram</a:t>
            </a:r>
          </a:p>
          <a:p>
            <a:r>
              <a:rPr lang="en-US" sz="2400" dirty="0">
                <a:latin typeface="Times New Roman"/>
                <a:cs typeface="Times New Roman"/>
              </a:rPr>
              <a:t>Block Diagram Explanation</a:t>
            </a:r>
          </a:p>
          <a:p>
            <a:r>
              <a:rPr lang="en-US" sz="2400" dirty="0">
                <a:latin typeface="Times New Roman"/>
                <a:cs typeface="Times New Roman"/>
              </a:rPr>
              <a:t>Hardware, Software Description</a:t>
            </a:r>
          </a:p>
          <a:p>
            <a:r>
              <a:rPr lang="en-US" sz="2400" dirty="0">
                <a:latin typeface="Times New Roman"/>
                <a:cs typeface="Times New Roman"/>
              </a:rPr>
              <a:t>Code and Result</a:t>
            </a:r>
          </a:p>
          <a:p>
            <a:r>
              <a:rPr lang="en-US" sz="2400" dirty="0">
                <a:latin typeface="Times New Roman"/>
                <a:cs typeface="Times New Roman"/>
              </a:rPr>
              <a:t>Algorithm </a:t>
            </a:r>
          </a:p>
          <a:p>
            <a:r>
              <a:rPr lang="en-US" sz="2400" dirty="0">
                <a:latin typeface="Times New Roman"/>
                <a:cs typeface="Times New Roman"/>
              </a:rPr>
              <a:t>Applications</a:t>
            </a:r>
          </a:p>
          <a:p>
            <a:r>
              <a:rPr lang="en-US" sz="2400" dirty="0">
                <a:latin typeface="Times New Roman"/>
                <a:cs typeface="Times New Roman"/>
              </a:rPr>
              <a:t>Plan of action</a:t>
            </a:r>
          </a:p>
          <a:p>
            <a:r>
              <a:rPr lang="en-US" sz="2400" dirty="0">
                <a:latin typeface="Times New Roman"/>
                <a:cs typeface="Times New Roman"/>
              </a:rPr>
              <a:t>Conclusion</a:t>
            </a:r>
          </a:p>
          <a:p>
            <a:r>
              <a:rPr lang="en-US" sz="2400" dirty="0">
                <a:latin typeface="Times New Roman"/>
                <a:cs typeface="Times New Roman"/>
              </a:rPr>
              <a:t>References</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descr="Image result for knsit logo">
            <a:hlinkClick r:id="rId4"/>
          </p:cNvPr>
          <p:cNvPicPr>
            <a:picLocks noChangeAspect="1" noChangeArrowheads="1"/>
          </p:cNvPicPr>
          <p:nvPr/>
        </p:nvPicPr>
        <p:blipFill>
          <a:blip r:embed="rId5"/>
          <a:srcRect/>
          <a:stretch>
            <a:fillRect/>
          </a:stretch>
        </p:blipFill>
        <p:spPr bwMode="auto">
          <a:xfrm>
            <a:off x="8077200" y="132095"/>
            <a:ext cx="962025" cy="857251"/>
          </a:xfrm>
          <a:prstGeom prst="rect">
            <a:avLst/>
          </a:prstGeom>
          <a:noFill/>
        </p:spPr>
      </p:pic>
      <p:sp>
        <p:nvSpPr>
          <p:cNvPr id="6" name="Slide Number Placeholder 5"/>
          <p:cNvSpPr>
            <a:spLocks noGrp="1"/>
          </p:cNvSpPr>
          <p:nvPr>
            <p:ph type="sldNum" sz="quarter" idx="12"/>
          </p:nvPr>
        </p:nvSpPr>
        <p:spPr>
          <a:xfrm>
            <a:off x="4210050" y="6305550"/>
            <a:ext cx="4860925" cy="476250"/>
          </a:xfrm>
        </p:spPr>
        <p:txBody>
          <a:bodyPr/>
          <a:lstStyle/>
          <a:p>
            <a:r>
              <a:rPr lang="en-US" dirty="0"/>
              <a:t>               </a:t>
            </a:r>
            <a:fld id="{348AA8EC-93FC-4A73-8ED3-9C6F6CB809D0}" type="slidenum">
              <a:rPr lang="en-US" smtClean="0"/>
              <a:t>2</a:t>
            </a:fld>
            <a:r>
              <a:rPr lang="en-US" dirty="0">
                <a:sym typeface="+mn-ea"/>
              </a:rPr>
              <a:t>                                                                        Dept of AIML</a:t>
            </a:r>
            <a:endParaRPr lang="en-US" dirty="0"/>
          </a:p>
        </p:txBody>
      </p:sp>
      <p:sp>
        <p:nvSpPr>
          <p:cNvPr id="4" name="Footer Placeholder 4">
            <a:extLst>
              <a:ext uri="{FF2B5EF4-FFF2-40B4-BE49-F238E27FC236}">
                <a16:creationId xmlns:a16="http://schemas.microsoft.com/office/drawing/2014/main" id="{DE2F9164-1F3F-D757-7847-82459AC00D6C}"/>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6449"/>
            <a:ext cx="8077200" cy="1076551"/>
          </a:xfrm>
        </p:spPr>
        <p:txBody>
          <a:bodyPr>
            <a:normAutofit/>
          </a:bodyPr>
          <a:lstStyle/>
          <a:p>
            <a:pPr algn="ctr"/>
            <a:r>
              <a:rPr lang="en-US" sz="3600" dirty="0"/>
              <a:t>Abstract</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1218565" y="1"/>
            <a:ext cx="7696835" cy="4190999"/>
          </a:xfrm>
        </p:spPr>
        <p:txBody>
          <a:bodyPr lIns="91440" tIns="45720" rIns="91440" bIns="45720" anchor="b">
            <a:noAutofit/>
          </a:bodyPr>
          <a:lstStyle/>
          <a:p>
            <a:pPr marL="82550" indent="0" algn="just">
              <a:lnSpc>
                <a:spcPct val="150000"/>
              </a:lnSpc>
              <a:buClr>
                <a:srgbClr val="000000"/>
              </a:buClr>
              <a:buNone/>
            </a:pPr>
            <a:r>
              <a:rPr lang="en-US" altLang="en-US" sz="1700" dirty="0">
                <a:latin typeface="Times New Roman" panose="02020603050405020304" pitchFamily="18" charset="0"/>
                <a:cs typeface="Times New Roman" panose="02020603050405020304" pitchFamily="18" charset="0"/>
              </a:rPr>
              <a:t>	This project develops an automated system to analyze and classify public sentiments from social media posts using natural language processing and machine learning. The system collects real-time text data, processes it to identify positive, negative, or neutral emotions, and generates actionable insights for understanding public opinion and trending topics. By applying advanced AI models, the approach can address language challenges such as slang and sarcasm, making sentiment analysis more accurate and valuable for decision-making and brand monitoring</a:t>
            </a:r>
          </a:p>
        </p:txBody>
      </p:sp>
      <p:pic>
        <p:nvPicPr>
          <p:cNvPr id="11266" name="Picture 2" descr="Image result for knsit logo">
            <a:hlinkClick r:id="rId4"/>
          </p:cNvPr>
          <p:cNvPicPr>
            <a:picLocks noChangeAspect="1" noChangeArrowheads="1"/>
          </p:cNvPicPr>
          <p:nvPr/>
        </p:nvPicPr>
        <p:blipFill>
          <a:blip r:embed="rId5"/>
          <a:srcRect/>
          <a:stretch>
            <a:fillRect/>
          </a:stretch>
        </p:blipFill>
        <p:spPr bwMode="auto">
          <a:xfrm>
            <a:off x="8105775" y="60324"/>
            <a:ext cx="962025" cy="857251"/>
          </a:xfrm>
          <a:prstGeom prst="rect">
            <a:avLst/>
          </a:prstGeom>
          <a:noFill/>
        </p:spPr>
      </p:pic>
      <p:sp>
        <p:nvSpPr>
          <p:cNvPr id="5" name="Slide Number Placeholder 4"/>
          <p:cNvSpPr>
            <a:spLocks noGrp="1"/>
          </p:cNvSpPr>
          <p:nvPr>
            <p:ph type="sldNum" sz="quarter" idx="12"/>
          </p:nvPr>
        </p:nvSpPr>
        <p:spPr>
          <a:xfrm>
            <a:off x="4488180" y="6305550"/>
            <a:ext cx="4582795" cy="476250"/>
          </a:xfrm>
        </p:spPr>
        <p:txBody>
          <a:bodyPr/>
          <a:lstStyle/>
          <a:p>
            <a:pPr algn="l"/>
            <a:r>
              <a:rPr lang="en-US"/>
              <a:t>         </a:t>
            </a:r>
            <a:fld id="{348AA8EC-93FC-4A73-8ED3-9C6F6CB809D0}" type="slidenum">
              <a:rPr lang="en-US" smtClean="0"/>
              <a:t>3</a:t>
            </a:fld>
            <a:r>
              <a:rPr lang="en-US"/>
              <a:t>                                                                        Dept of AIML</a:t>
            </a:r>
          </a:p>
        </p:txBody>
      </p:sp>
      <p:sp>
        <p:nvSpPr>
          <p:cNvPr id="4" name="Footer Placeholder 4">
            <a:extLst>
              <a:ext uri="{FF2B5EF4-FFF2-40B4-BE49-F238E27FC236}">
                <a16:creationId xmlns:a16="http://schemas.microsoft.com/office/drawing/2014/main" id="{BCC998AB-657A-B22B-671E-AD57CF43E0F8}"/>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077200" cy="914400"/>
          </a:xfrm>
        </p:spPr>
        <p:txBody>
          <a:bodyPr>
            <a:normAutofit fontScale="90000"/>
          </a:bodyPr>
          <a:lstStyle/>
          <a:p>
            <a:pPr algn="ctr"/>
            <a:r>
              <a:rPr lang="en-US" sz="4000" dirty="0"/>
              <a:t>Introduction</a:t>
            </a:r>
            <a:br>
              <a:rPr lang="en-US" dirty="0"/>
            </a:br>
            <a:endParaRPr lang="en-US" dirty="0"/>
          </a:p>
        </p:txBody>
      </p:sp>
      <p:sp>
        <p:nvSpPr>
          <p:cNvPr id="3" name="Content Placeholder 2"/>
          <p:cNvSpPr>
            <a:spLocks noGrp="1"/>
          </p:cNvSpPr>
          <p:nvPr>
            <p:ph idx="1"/>
          </p:nvPr>
        </p:nvSpPr>
        <p:spPr>
          <a:xfrm>
            <a:off x="1066800" y="1295399"/>
            <a:ext cx="7769225" cy="4702175"/>
          </a:xfrm>
        </p:spPr>
        <p:txBody>
          <a:bodyPr lIns="91440" tIns="45720" rIns="91440" bIns="45720" anchor="t">
            <a:normAutofit fontScale="82500" lnSpcReduction="10000"/>
          </a:bodyPr>
          <a:lstStyle/>
          <a:p>
            <a:pPr marL="539750" indent="-457200" algn="just">
              <a:lnSpc>
                <a:spcPct val="150000"/>
              </a:lnSpc>
              <a:buClr>
                <a:srgbClr val="000000"/>
              </a:buClr>
              <a:buFont typeface="+mj-lt"/>
              <a:buAutoNum type="arabicPeriod"/>
            </a:pPr>
            <a:r>
              <a:rPr lang="en-US" altLang="en-US" sz="2000" dirty="0">
                <a:latin typeface="Times New Roman" panose="02020603050405020304"/>
                <a:cs typeface="Times New Roman" panose="02020603050405020304"/>
              </a:rPr>
              <a:t>Social media platforms generate vast amounts of user opinions and emotions daily, making them a valuable resource for understanding public sentiment.</a:t>
            </a:r>
          </a:p>
          <a:p>
            <a:pPr marL="539750" indent="-457200" algn="just">
              <a:lnSpc>
                <a:spcPct val="150000"/>
              </a:lnSpc>
              <a:buClr>
                <a:srgbClr val="000000"/>
              </a:buClr>
              <a:buFont typeface="+mj-lt"/>
              <a:buAutoNum type="arabicPeriod"/>
            </a:pPr>
            <a:r>
              <a:rPr lang="en-US" altLang="en-US" sz="2000" dirty="0">
                <a:latin typeface="Times New Roman" panose="02020603050405020304"/>
                <a:cs typeface="Times New Roman" panose="02020603050405020304"/>
              </a:rPr>
              <a:t>Sentiment analysis uses natural language processing (NLP) and machine learning to identify and categorize these opinions as positive, negative, or neutral</a:t>
            </a:r>
          </a:p>
          <a:p>
            <a:pPr marL="539750" indent="-457200" algn="just">
              <a:lnSpc>
                <a:spcPct val="150000"/>
              </a:lnSpc>
              <a:buClr>
                <a:srgbClr val="000000"/>
              </a:buClr>
              <a:buFont typeface="+mj-lt"/>
              <a:buAutoNum type="arabicPeriod"/>
            </a:pPr>
            <a:r>
              <a:rPr lang="en-US" altLang="en-US" sz="2000" dirty="0">
                <a:latin typeface="Times New Roman" panose="02020603050405020304"/>
                <a:cs typeface="Times New Roman" panose="02020603050405020304"/>
              </a:rPr>
              <a:t> The project aims to automate the extraction and analysis of sentiments from real-time social media posts, comments, and reviews across major platforms</a:t>
            </a:r>
          </a:p>
          <a:p>
            <a:pPr marL="539750" indent="-457200" algn="just">
              <a:lnSpc>
                <a:spcPct val="150000"/>
              </a:lnSpc>
              <a:buClr>
                <a:srgbClr val="000000"/>
              </a:buClr>
              <a:buFont typeface="+mj-lt"/>
              <a:buAutoNum type="arabicPeriod"/>
            </a:pPr>
            <a:r>
              <a:rPr lang="en-US" altLang="en-US" sz="2000" dirty="0">
                <a:latin typeface="Times New Roman" panose="02020603050405020304"/>
                <a:cs typeface="Times New Roman" panose="02020603050405020304"/>
              </a:rPr>
              <a:t> Insights gained from this analysis can help businesses and organizations track brand reputation, respond to emerging trends, and make data-driven decisions</a:t>
            </a:r>
          </a:p>
          <a:p>
            <a:pPr marL="539750" indent="-457200" algn="just">
              <a:lnSpc>
                <a:spcPct val="150000"/>
              </a:lnSpc>
              <a:buClr>
                <a:srgbClr val="000000"/>
              </a:buClr>
              <a:buFont typeface="+mj-lt"/>
              <a:buAutoNum type="arabicPeriod"/>
            </a:pPr>
            <a:r>
              <a:rPr lang="en-US" altLang="en-US" sz="2000" dirty="0">
                <a:latin typeface="Times New Roman" panose="02020603050405020304"/>
                <a:cs typeface="Times New Roman" panose="02020603050405020304"/>
              </a:rPr>
              <a:t>The challenges include handling informal language, slang, emojis, and sarcasm used in online conversations, which require advanced algorithms for accurate sentiment detection</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066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2" name="Picture 2" descr="Image result for knsit logo">
            <a:hlinkClick r:id="rId4"/>
          </p:cNvPr>
          <p:cNvPicPr>
            <a:picLocks noChangeAspect="1" noChangeArrowheads="1"/>
          </p:cNvPicPr>
          <p:nvPr/>
        </p:nvPicPr>
        <p:blipFill>
          <a:blip r:embed="rId5"/>
          <a:srcRect/>
          <a:stretch>
            <a:fillRect/>
          </a:stretch>
        </p:blipFill>
        <p:spPr bwMode="auto">
          <a:xfrm>
            <a:off x="8059994" y="104773"/>
            <a:ext cx="962025" cy="857251"/>
          </a:xfrm>
          <a:prstGeom prst="rect">
            <a:avLst/>
          </a:prstGeom>
          <a:noFill/>
        </p:spPr>
      </p:pic>
      <p:sp>
        <p:nvSpPr>
          <p:cNvPr id="14" name="Slide Number Placeholder 13"/>
          <p:cNvSpPr>
            <a:spLocks noGrp="1"/>
          </p:cNvSpPr>
          <p:nvPr>
            <p:ph type="sldNum" sz="quarter" idx="12"/>
          </p:nvPr>
        </p:nvSpPr>
        <p:spPr>
          <a:xfrm>
            <a:off x="4356100" y="6305550"/>
            <a:ext cx="4714875" cy="476250"/>
          </a:xfrm>
        </p:spPr>
        <p:txBody>
          <a:bodyPr/>
          <a:lstStyle/>
          <a:p>
            <a:pPr algn="l"/>
            <a:r>
              <a:rPr lang="en-US" dirty="0"/>
              <a:t>                </a:t>
            </a:r>
            <a:fld id="{348AA8EC-93FC-4A73-8ED3-9C6F6CB809D0}" type="slidenum">
              <a:rPr lang="en-US" smtClean="0"/>
              <a:t>4</a:t>
            </a:fld>
            <a:r>
              <a:rPr lang="en-US" dirty="0"/>
              <a:t>                                                                     Dept of </a:t>
            </a:r>
            <a:r>
              <a:rPr lang="en-US" dirty="0" err="1"/>
              <a:t>Aiml</a:t>
            </a:r>
            <a:endParaRPr lang="en-US" dirty="0"/>
          </a:p>
        </p:txBody>
      </p:sp>
      <p:sp>
        <p:nvSpPr>
          <p:cNvPr id="4" name="Footer Placeholder 4">
            <a:extLst>
              <a:ext uri="{FF2B5EF4-FFF2-40B4-BE49-F238E27FC236}">
                <a16:creationId xmlns:a16="http://schemas.microsoft.com/office/drawing/2014/main" id="{B19CCDA5-3047-97F7-AFBC-063C44AB0200}"/>
              </a:ext>
            </a:extLst>
          </p:cNvPr>
          <p:cNvSpPr>
            <a:spLocks noGrp="1"/>
          </p:cNvSpPr>
          <p:nvPr>
            <p:ph type="ftr" sz="quarter" idx="11"/>
          </p:nvPr>
        </p:nvSpPr>
        <p:spPr>
          <a:xfrm>
            <a:off x="1042686" y="6381750"/>
            <a:ext cx="2895600" cy="476250"/>
          </a:xfrm>
        </p:spPr>
        <p:txBody>
          <a:bodyPr/>
          <a:lstStyle/>
          <a:p>
            <a:r>
              <a:rPr lang="en-US" dirty="0"/>
              <a:t>PREDICTIVE ANALYTICS ON TWITTER SENTIMENT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077200" cy="914400"/>
          </a:xfrm>
        </p:spPr>
        <p:txBody>
          <a:bodyPr>
            <a:normAutofit/>
          </a:bodyPr>
          <a:lstStyle/>
          <a:p>
            <a:pPr algn="ctr"/>
            <a:r>
              <a:rPr lang="en-US" sz="3600" dirty="0"/>
              <a:t>Literature Survey</a:t>
            </a:r>
          </a:p>
        </p:txBody>
      </p:sp>
      <p:sp>
        <p:nvSpPr>
          <p:cNvPr id="3" name="Content Placeholder 2"/>
          <p:cNvSpPr>
            <a:spLocks noGrp="1"/>
          </p:cNvSpPr>
          <p:nvPr>
            <p:ph idx="1"/>
          </p:nvPr>
        </p:nvSpPr>
        <p:spPr>
          <a:xfrm>
            <a:off x="762000" y="1066800"/>
            <a:ext cx="8382000" cy="6019800"/>
          </a:xfrm>
        </p:spPr>
        <p:txBody>
          <a:bodyPr>
            <a:normAutofit/>
          </a:bodyPr>
          <a:lstStyle/>
          <a:p>
            <a:pPr algn="just">
              <a:buNone/>
            </a:pPr>
            <a:endParaRPr lang="en-US" sz="2000"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dirty="0">
                <a:latin typeface="+mj-lt"/>
                <a:cs typeface="Times New Roman" panose="02020603050405020304" pitchFamily="18" charset="0"/>
              </a:rPr>
              <a:t> </a:t>
            </a:r>
            <a:endParaRPr lang="en-US" sz="2400" dirty="0">
              <a:latin typeface="+mj-lt"/>
              <a:cs typeface="Times New Roman" panose="02020603050405020304" pitchFamily="18"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066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descr="Image result for knsit logo">
            <a:hlinkClick r:id="rId4"/>
          </p:cNvPr>
          <p:cNvPicPr>
            <a:picLocks noChangeAspect="1" noChangeArrowheads="1"/>
          </p:cNvPicPr>
          <p:nvPr/>
        </p:nvPicPr>
        <p:blipFill>
          <a:blip r:embed="rId5"/>
          <a:srcRect/>
          <a:stretch>
            <a:fillRect/>
          </a:stretch>
        </p:blipFill>
        <p:spPr bwMode="auto">
          <a:xfrm>
            <a:off x="8077200" y="76200"/>
            <a:ext cx="962025" cy="857251"/>
          </a:xfrm>
          <a:prstGeom prst="rect">
            <a:avLst/>
          </a:prstGeom>
          <a:noFill/>
        </p:spPr>
      </p:pic>
      <p:sp>
        <p:nvSpPr>
          <p:cNvPr id="9" name="Slide Number Placeholder 8"/>
          <p:cNvSpPr>
            <a:spLocks noGrp="1"/>
          </p:cNvSpPr>
          <p:nvPr>
            <p:ph type="sldNum" sz="quarter" idx="12"/>
          </p:nvPr>
        </p:nvSpPr>
        <p:spPr>
          <a:xfrm>
            <a:off x="4572635" y="6305550"/>
            <a:ext cx="4498340" cy="476250"/>
          </a:xfrm>
        </p:spPr>
        <p:txBody>
          <a:bodyPr/>
          <a:lstStyle/>
          <a:p>
            <a:pPr algn="l"/>
            <a:fld id="{348AA8EC-93FC-4A73-8ED3-9C6F6CB809D0}" type="slidenum">
              <a:rPr lang="en-US" smtClean="0"/>
              <a:t>5</a:t>
            </a:fld>
            <a:r>
              <a:rPr lang="en-US"/>
              <a:t>                                                                                Dept of Aiml</a:t>
            </a:r>
          </a:p>
        </p:txBody>
      </p:sp>
      <p:graphicFrame>
        <p:nvGraphicFramePr>
          <p:cNvPr id="5" name="Table 4">
            <a:extLst>
              <a:ext uri="{FF2B5EF4-FFF2-40B4-BE49-F238E27FC236}">
                <a16:creationId xmlns:a16="http://schemas.microsoft.com/office/drawing/2014/main" id="{40835BF2-72CB-9F9E-76DF-CFDAC803D95E}"/>
              </a:ext>
            </a:extLst>
          </p:cNvPr>
          <p:cNvGraphicFramePr>
            <a:graphicFrameLocks noGrp="1"/>
          </p:cNvGraphicFramePr>
          <p:nvPr>
            <p:extLst>
              <p:ext uri="{D42A27DB-BD31-4B8C-83A1-F6EECF244321}">
                <p14:modId xmlns:p14="http://schemas.microsoft.com/office/powerpoint/2010/main" val="2763642819"/>
              </p:ext>
            </p:extLst>
          </p:nvPr>
        </p:nvGraphicFramePr>
        <p:xfrm>
          <a:off x="1142999" y="1100856"/>
          <a:ext cx="7772401" cy="5376144"/>
        </p:xfrm>
        <a:graphic>
          <a:graphicData uri="http://schemas.openxmlformats.org/drawingml/2006/table">
            <a:tbl>
              <a:tblPr/>
              <a:tblGrid>
                <a:gridCol w="348343">
                  <a:extLst>
                    <a:ext uri="{9D8B030D-6E8A-4147-A177-3AD203B41FA5}">
                      <a16:colId xmlns:a16="http://schemas.microsoft.com/office/drawing/2014/main" val="3893552282"/>
                    </a:ext>
                  </a:extLst>
                </a:gridCol>
                <a:gridCol w="1872343">
                  <a:extLst>
                    <a:ext uri="{9D8B030D-6E8A-4147-A177-3AD203B41FA5}">
                      <a16:colId xmlns:a16="http://schemas.microsoft.com/office/drawing/2014/main" val="222106793"/>
                    </a:ext>
                  </a:extLst>
                </a:gridCol>
                <a:gridCol w="1110343">
                  <a:extLst>
                    <a:ext uri="{9D8B030D-6E8A-4147-A177-3AD203B41FA5}">
                      <a16:colId xmlns:a16="http://schemas.microsoft.com/office/drawing/2014/main" val="3790970730"/>
                    </a:ext>
                  </a:extLst>
                </a:gridCol>
                <a:gridCol w="1110343">
                  <a:extLst>
                    <a:ext uri="{9D8B030D-6E8A-4147-A177-3AD203B41FA5}">
                      <a16:colId xmlns:a16="http://schemas.microsoft.com/office/drawing/2014/main" val="3126429770"/>
                    </a:ext>
                  </a:extLst>
                </a:gridCol>
                <a:gridCol w="1110343">
                  <a:extLst>
                    <a:ext uri="{9D8B030D-6E8A-4147-A177-3AD203B41FA5}">
                      <a16:colId xmlns:a16="http://schemas.microsoft.com/office/drawing/2014/main" val="1292553760"/>
                    </a:ext>
                  </a:extLst>
                </a:gridCol>
                <a:gridCol w="1110343">
                  <a:extLst>
                    <a:ext uri="{9D8B030D-6E8A-4147-A177-3AD203B41FA5}">
                      <a16:colId xmlns:a16="http://schemas.microsoft.com/office/drawing/2014/main" val="3453341169"/>
                    </a:ext>
                  </a:extLst>
                </a:gridCol>
                <a:gridCol w="1110343">
                  <a:extLst>
                    <a:ext uri="{9D8B030D-6E8A-4147-A177-3AD203B41FA5}">
                      <a16:colId xmlns:a16="http://schemas.microsoft.com/office/drawing/2014/main" val="3860456592"/>
                    </a:ext>
                  </a:extLst>
                </a:gridCol>
              </a:tblGrid>
              <a:tr h="338684">
                <a:tc>
                  <a:txBody>
                    <a:bodyPr/>
                    <a:lstStyle/>
                    <a:p>
                      <a:pPr algn="ctr">
                        <a:buNone/>
                      </a:pPr>
                      <a:r>
                        <a:rPr lang="en-IN" sz="1100" b="1" dirty="0">
                          <a:latin typeface="Times New Roman" panose="02020603050405020304" pitchFamily="18" charset="0"/>
                          <a:cs typeface="Times New Roman" panose="02020603050405020304" pitchFamily="18" charset="0"/>
                        </a:rPr>
                        <a:t>Sl.</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Title (Year)</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Authors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DOI</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Publication mode</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Helpful insights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Limitations / notes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62338984"/>
                  </a:ext>
                </a:extLst>
              </a:tr>
              <a:tr h="1107929">
                <a:tc>
                  <a:txBody>
                    <a:bodyPr/>
                    <a:lstStyle/>
                    <a:p>
                      <a:pPr algn="ctr">
                        <a:buNone/>
                      </a:pPr>
                      <a:r>
                        <a:rPr lang="en-IN" sz="1100" b="1" dirty="0">
                          <a:latin typeface="Times New Roman" panose="02020603050405020304" pitchFamily="18" charset="0"/>
                          <a:cs typeface="Times New Roman" panose="02020603050405020304" pitchFamily="18" charset="0"/>
                        </a:rPr>
                        <a:t>1</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US" sz="1100" b="1" dirty="0">
                          <a:latin typeface="Times New Roman" panose="02020603050405020304" pitchFamily="18" charset="0"/>
                          <a:cs typeface="Times New Roman" panose="02020603050405020304" pitchFamily="18" charset="0"/>
                        </a:rPr>
                        <a:t>Sentiment analysis of SIREKAP-related news headlines</a:t>
                      </a:r>
                      <a:r>
                        <a:rPr lang="en-US" sz="1100" dirty="0">
                          <a:latin typeface="Times New Roman" panose="02020603050405020304" pitchFamily="18" charset="0"/>
                          <a:cs typeface="Times New Roman" panose="02020603050405020304" pitchFamily="18" charset="0"/>
                        </a:rPr>
                        <a:t> (2024)</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Herjanto, Utomo, Saraswati</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10.18421/SAR73-06</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fr-FR" sz="1100" dirty="0">
                          <a:latin typeface="Times New Roman" panose="02020603050405020304" pitchFamily="18" charset="0"/>
                          <a:cs typeface="Times New Roman" panose="02020603050405020304" pitchFamily="18" charset="0"/>
                        </a:rPr>
                        <a:t>Journal article (SAR Journal, Vol.7, No.3, Sept 2024)</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Shows end-to-end Indonesian text describes hands-on steps and evaluation with confusion matrices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Manual additions to </a:t>
                      </a:r>
                      <a:r>
                        <a:rPr lang="en-US" sz="1100" dirty="0" err="1">
                          <a:latin typeface="Times New Roman" panose="02020603050405020304" pitchFamily="18" charset="0"/>
                          <a:cs typeface="Times New Roman" panose="02020603050405020304" pitchFamily="18" charset="0"/>
                        </a:rPr>
                        <a:t>stopword</a:t>
                      </a:r>
                      <a:r>
                        <a:rPr lang="en-US" sz="1100" dirty="0">
                          <a:latin typeface="Times New Roman" panose="02020603050405020304" pitchFamily="18" charset="0"/>
                          <a:cs typeface="Times New Roman" panose="02020603050405020304" pitchFamily="18" charset="0"/>
                        </a:rPr>
                        <a:t> list; methods are classical ML baselines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913217293"/>
                  </a:ext>
                </a:extLst>
              </a:tr>
              <a:tr h="665193">
                <a:tc>
                  <a:txBody>
                    <a:bodyPr/>
                    <a:lstStyle/>
                    <a:p>
                      <a:pPr algn="ctr">
                        <a:buNone/>
                      </a:pPr>
                      <a:r>
                        <a:rPr lang="en-IN" sz="1100" b="1" dirty="0">
                          <a:latin typeface="Times New Roman" panose="02020603050405020304" pitchFamily="18" charset="0"/>
                          <a:cs typeface="Times New Roman" panose="02020603050405020304" pitchFamily="18" charset="0"/>
                        </a:rPr>
                        <a:t>2</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US" sz="1100" b="1">
                          <a:latin typeface="Times New Roman" panose="02020603050405020304" pitchFamily="18" charset="0"/>
                          <a:cs typeface="Times New Roman" panose="02020603050405020304" pitchFamily="18" charset="0"/>
                        </a:rPr>
                        <a:t>Sentiment Analysis of Serious Suicide References in Twitter Social Network</a:t>
                      </a:r>
                      <a:r>
                        <a:rPr lang="en-US" sz="1100">
                          <a:latin typeface="Times New Roman" panose="02020603050405020304" pitchFamily="18" charset="0"/>
                          <a:cs typeface="Times New Roman" panose="02020603050405020304" pitchFamily="18" charset="0"/>
                        </a:rPr>
                        <a:t> (2024)</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Korani &amp; Mouhoub</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a:latin typeface="Times New Roman" panose="02020603050405020304" pitchFamily="18" charset="0"/>
                          <a:cs typeface="Times New Roman" panose="02020603050405020304" pitchFamily="18" charset="0"/>
                        </a:rPr>
                        <a:t>10.5220/0008894003390346</a:t>
                      </a:r>
                      <a:endParaRPr lang="en-IN" sz="110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a:latin typeface="Times New Roman" panose="02020603050405020304" pitchFamily="18" charset="0"/>
                          <a:cs typeface="Times New Roman" panose="02020603050405020304" pitchFamily="18" charset="0"/>
                        </a:rPr>
                        <a:t>Conference paper (ICAART 2024)</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a:latin typeface="Times New Roman" panose="02020603050405020304" pitchFamily="18" charset="0"/>
                          <a:cs typeface="Times New Roman" panose="02020603050405020304" pitchFamily="18" charset="0"/>
                        </a:rPr>
                        <a:t>Applies SA to safety-critical domain (suicide references)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a:latin typeface="Times New Roman" panose="02020603050405020304" pitchFamily="18" charset="0"/>
                          <a:cs typeface="Times New Roman" panose="02020603050405020304" pitchFamily="18" charset="0"/>
                        </a:rPr>
                        <a:t>Algorithms/datasets not fully described in the excerpt we have</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5408052"/>
                  </a:ext>
                </a:extLst>
              </a:tr>
              <a:tr h="991702">
                <a:tc>
                  <a:txBody>
                    <a:bodyPr/>
                    <a:lstStyle/>
                    <a:p>
                      <a:pPr algn="ctr">
                        <a:buNone/>
                      </a:pPr>
                      <a:r>
                        <a:rPr lang="en-IN" sz="1100" b="1" dirty="0">
                          <a:latin typeface="Times New Roman" panose="02020603050405020304" pitchFamily="18" charset="0"/>
                          <a:cs typeface="Times New Roman" panose="02020603050405020304" pitchFamily="18" charset="0"/>
                        </a:rPr>
                        <a:t>3</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Analisis Sentimen Ulasan Pengguna Aplikasi Sirekap… Menggunakan Algoritma Random Forest Classifier</a:t>
                      </a:r>
                      <a:r>
                        <a:rPr lang="en-IN" sz="1100" dirty="0">
                          <a:latin typeface="Times New Roman" panose="02020603050405020304" pitchFamily="18" charset="0"/>
                          <a:cs typeface="Times New Roman" panose="02020603050405020304" pitchFamily="18" charset="0"/>
                        </a:rPr>
                        <a:t> (2024)</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Herjanto &amp; Carudin</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10.23960/jitet.v12i2.4192</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dirty="0">
                          <a:latin typeface="Times New Roman" panose="02020603050405020304" pitchFamily="18" charset="0"/>
                          <a:cs typeface="Times New Roman" panose="02020603050405020304" pitchFamily="18" charset="0"/>
                        </a:rPr>
                        <a:t>Journal article (Jurnal Informatika dan Teknik Elektro Terapan)</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a:latin typeface="Times New Roman" panose="02020603050405020304" pitchFamily="18" charset="0"/>
                          <a:cs typeface="Times New Roman" panose="02020603050405020304" pitchFamily="18" charset="0"/>
                        </a:rPr>
                        <a:t>Shows viability of RF for Indonesian app-review sentiment</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Paper focuses on one algorithm; generalization beyond app-reviews unclear from citation</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904570031"/>
                  </a:ext>
                </a:extLst>
              </a:tr>
              <a:tr h="991702">
                <a:tc>
                  <a:txBody>
                    <a:bodyPr/>
                    <a:lstStyle/>
                    <a:p>
                      <a:pPr algn="ctr">
                        <a:buNone/>
                      </a:pPr>
                      <a:r>
                        <a:rPr lang="en-IN" sz="1100" b="1" dirty="0">
                          <a:latin typeface="Times New Roman" panose="02020603050405020304" pitchFamily="18" charset="0"/>
                          <a:cs typeface="Times New Roman" panose="02020603050405020304" pitchFamily="18" charset="0"/>
                        </a:rPr>
                        <a:t>4</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Analisis Sentimen Pengguna Twitter Terhadap Kasus COVID-19… Menggunakan Regresi Logistik Multinomial</a:t>
                      </a:r>
                      <a:r>
                        <a:rPr lang="en-IN" sz="1100" dirty="0">
                          <a:latin typeface="Times New Roman" panose="02020603050405020304" pitchFamily="18" charset="0"/>
                          <a:cs typeface="Times New Roman" panose="02020603050405020304" pitchFamily="18" charset="0"/>
                        </a:rPr>
                        <a:t> (2023)</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Prabowo, Sujaini &amp; Rismawan</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10.26418/justin.v11i1.57450</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dirty="0">
                          <a:latin typeface="Times New Roman" panose="02020603050405020304" pitchFamily="18" charset="0"/>
                          <a:cs typeface="Times New Roman" panose="02020603050405020304" pitchFamily="18" charset="0"/>
                        </a:rPr>
                        <a:t>Journal article (Jurnal Sistem dan Teknologi Informasi – JustIN)</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Demonstrates simple, interpretable classifier for multi-class tweet sentiment</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Topic-specific dataset (COVID-19); domain shift may affect accuracy in other topics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777903381"/>
                  </a:ext>
                </a:extLst>
              </a:tr>
              <a:tr h="1200687">
                <a:tc>
                  <a:txBody>
                    <a:bodyPr/>
                    <a:lstStyle/>
                    <a:p>
                      <a:pPr algn="ctr">
                        <a:buNone/>
                      </a:pPr>
                      <a:r>
                        <a:rPr lang="en-IN" sz="1100" b="1" dirty="0">
                          <a:latin typeface="Times New Roman" panose="02020603050405020304" pitchFamily="18" charset="0"/>
                          <a:cs typeface="Times New Roman" panose="02020603050405020304" pitchFamily="18" charset="0"/>
                        </a:rPr>
                        <a:t>5</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buNone/>
                      </a:pPr>
                      <a:r>
                        <a:rPr lang="en-US" sz="1100" b="1" dirty="0">
                          <a:latin typeface="Times New Roman" panose="02020603050405020304" pitchFamily="18" charset="0"/>
                          <a:cs typeface="Times New Roman" panose="02020603050405020304" pitchFamily="18" charset="0"/>
                        </a:rPr>
                        <a:t>Sentiment Analysis of Twitter Data</a:t>
                      </a:r>
                      <a:r>
                        <a:rPr lang="en-US" sz="1100" dirty="0">
                          <a:latin typeface="Times New Roman" panose="02020603050405020304" pitchFamily="18" charset="0"/>
                          <a:cs typeface="Times New Roman" panose="02020603050405020304" pitchFamily="18" charset="0"/>
                        </a:rPr>
                        <a:t> (2022)</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a:latin typeface="Times New Roman" panose="02020603050405020304" pitchFamily="18" charset="0"/>
                          <a:cs typeface="Times New Roman" panose="02020603050405020304" pitchFamily="18" charset="0"/>
                        </a:rPr>
                        <a:t>Wang, Guo, Yuan &amp; Li</a:t>
                      </a:r>
                      <a:endParaRPr lang="en-IN" sz="110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b="1" dirty="0">
                          <a:latin typeface="Times New Roman" panose="02020603050405020304" pitchFamily="18" charset="0"/>
                          <a:cs typeface="Times New Roman" panose="02020603050405020304" pitchFamily="18" charset="0"/>
                        </a:rPr>
                        <a:t>10.3390/app122211775</a:t>
                      </a:r>
                      <a:endParaRPr lang="en-IN" sz="1100" dirty="0">
                        <a:latin typeface="Times New Roman" panose="02020603050405020304" pitchFamily="18" charset="0"/>
                        <a:cs typeface="Times New Roman" panose="02020603050405020304" pitchFamily="18" charset="0"/>
                      </a:endParaRP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IN" sz="1100" dirty="0">
                          <a:latin typeface="Times New Roman" panose="02020603050405020304" pitchFamily="18" charset="0"/>
                          <a:cs typeface="Times New Roman" panose="02020603050405020304" pitchFamily="18" charset="0"/>
                        </a:rPr>
                        <a:t>Journal article (MDPI Applied Sciences)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Clear taxonomy of TSA methods; highlights challenges in short, noisy tweets and task transfer</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Being a survey, no single SOTA model is offered; emphasizes open problems</a:t>
                      </a:r>
                    </a:p>
                  </a:txBody>
                  <a:tcPr marL="12502" marR="12502" marT="6251" marB="62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53042589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1145" y="193963"/>
            <a:ext cx="7498080" cy="838200"/>
          </a:xfrm>
        </p:spPr>
        <p:txBody>
          <a:bodyPr>
            <a:normAutofit/>
          </a:bodyPr>
          <a:lstStyle/>
          <a:p>
            <a:pPr algn="ctr"/>
            <a:r>
              <a:rPr lang="en-US" sz="3600" dirty="0"/>
              <a:t>Objectives and Methodology</a:t>
            </a:r>
          </a:p>
        </p:txBody>
      </p:sp>
      <p:sp>
        <p:nvSpPr>
          <p:cNvPr id="3" name="Content Placeholder 2"/>
          <p:cNvSpPr>
            <a:spLocks noGrp="1"/>
          </p:cNvSpPr>
          <p:nvPr>
            <p:ph idx="1"/>
          </p:nvPr>
        </p:nvSpPr>
        <p:spPr>
          <a:xfrm>
            <a:off x="1236120" y="1447800"/>
            <a:ext cx="7790815" cy="6553200"/>
          </a:xfrm>
        </p:spPr>
        <p:txBody>
          <a:bodyPr>
            <a:normAutofit/>
          </a:bodyPr>
          <a:lstStyle/>
          <a:p>
            <a:pPr marL="82550" indent="0">
              <a:lnSpc>
                <a:spcPct val="150000"/>
              </a:lnSpc>
              <a:buNone/>
            </a:pPr>
            <a:r>
              <a:rPr lang="en-US" sz="2600" b="1" dirty="0">
                <a:latin typeface="Times New Roman" panose="02020603050405020304" pitchFamily="18" charset="0"/>
                <a:cs typeface="Times New Roman" panose="02020603050405020304" pitchFamily="18" charset="0"/>
              </a:rPr>
              <a:t>Objectives</a:t>
            </a:r>
            <a:endParaRPr lang="en-US" sz="6400" dirty="0">
              <a:latin typeface="Times New Roman" panose="02020603050405020304" pitchFamily="18" charset="0"/>
              <a:cs typeface="Times New Roman" panose="02020603050405020304" pitchFamily="18" charset="0"/>
            </a:endParaRPr>
          </a:p>
          <a:p>
            <a:pPr marL="425450" indent="-342900">
              <a:lnSpc>
                <a:spcPct val="150000"/>
              </a:lnSpc>
              <a:buClr>
                <a:srgbClr val="000000"/>
              </a:buClr>
              <a:buFont typeface="+mj-lt"/>
              <a:buAutoNum type="arabicPeriod"/>
            </a:pPr>
            <a:r>
              <a:rPr lang="en-US" altLang="en-US" sz="1700" dirty="0">
                <a:latin typeface="Times New Roman" panose="02020603050405020304" pitchFamily="18" charset="0"/>
                <a:cs typeface="Times New Roman" panose="02020603050405020304" pitchFamily="18" charset="0"/>
              </a:rPr>
              <a:t>To develop an automated system for collecting and processing social media data from multiple platforms.</a:t>
            </a:r>
          </a:p>
          <a:p>
            <a:pPr marL="425450" indent="-342900">
              <a:lnSpc>
                <a:spcPct val="150000"/>
              </a:lnSpc>
              <a:buClr>
                <a:srgbClr val="000000"/>
              </a:buClr>
              <a:buFont typeface="+mj-lt"/>
              <a:buAutoNum type="arabicPeriod"/>
            </a:pPr>
            <a:r>
              <a:rPr lang="en-US" altLang="en-US" sz="1700" dirty="0">
                <a:latin typeface="Times New Roman" panose="02020603050405020304" pitchFamily="18" charset="0"/>
                <a:cs typeface="Times New Roman" panose="02020603050405020304" pitchFamily="18" charset="0"/>
              </a:rPr>
              <a:t>To apply natural language processing (NLP) techniques for cleaning and preparing textual data for analysis.</a:t>
            </a:r>
          </a:p>
          <a:p>
            <a:pPr marL="425450" indent="-342900">
              <a:lnSpc>
                <a:spcPct val="150000"/>
              </a:lnSpc>
              <a:buClr>
                <a:srgbClr val="000000"/>
              </a:buClr>
              <a:buFont typeface="+mj-lt"/>
              <a:buAutoNum type="arabicPeriod"/>
            </a:pPr>
            <a:r>
              <a:rPr lang="en-US" altLang="en-US" sz="1700" dirty="0">
                <a:latin typeface="Times New Roman" panose="02020603050405020304" pitchFamily="18" charset="0"/>
                <a:cs typeface="Times New Roman" panose="02020603050405020304" pitchFamily="18" charset="0"/>
              </a:rPr>
              <a:t>To accurately classify social media posts into positive, negative, or neutral sentiments using machine learning models.</a:t>
            </a:r>
          </a:p>
          <a:p>
            <a:pPr marL="425450" indent="-342900">
              <a:lnSpc>
                <a:spcPct val="150000"/>
              </a:lnSpc>
              <a:buClr>
                <a:srgbClr val="000000"/>
              </a:buClr>
              <a:buFont typeface="+mj-lt"/>
              <a:buAutoNum type="arabicPeriod"/>
            </a:pPr>
            <a:r>
              <a:rPr lang="en-US" altLang="en-US" sz="1700" dirty="0">
                <a:latin typeface="Times New Roman" panose="02020603050405020304" pitchFamily="18" charset="0"/>
                <a:cs typeface="Times New Roman" panose="02020603050405020304" pitchFamily="18" charset="0"/>
              </a:rPr>
              <a:t>To generate actionable insights that help organizations understand public opinion, monitor brand reputation, and identify emerging trends.</a:t>
            </a:r>
            <a:endParaRPr lang="en-US" sz="1700"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066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descr="Image result for knsit logo">
            <a:hlinkClick r:id="rId4"/>
          </p:cNvPr>
          <p:cNvPicPr>
            <a:picLocks noChangeAspect="1" noChangeArrowheads="1"/>
          </p:cNvPicPr>
          <p:nvPr/>
        </p:nvPicPr>
        <p:blipFill>
          <a:blip r:embed="rId5"/>
          <a:srcRect/>
          <a:stretch>
            <a:fillRect/>
          </a:stretch>
        </p:blipFill>
        <p:spPr bwMode="auto">
          <a:xfrm>
            <a:off x="8077200" y="76200"/>
            <a:ext cx="962025" cy="857251"/>
          </a:xfrm>
          <a:prstGeom prst="rect">
            <a:avLst/>
          </a:prstGeom>
          <a:noFill/>
        </p:spPr>
      </p:pic>
      <p:sp>
        <p:nvSpPr>
          <p:cNvPr id="7" name="Slide Number Placeholder 6"/>
          <p:cNvSpPr>
            <a:spLocks noGrp="1"/>
          </p:cNvSpPr>
          <p:nvPr>
            <p:ph type="sldNum" sz="quarter" idx="12"/>
          </p:nvPr>
        </p:nvSpPr>
        <p:spPr>
          <a:xfrm>
            <a:off x="4356100" y="6305550"/>
            <a:ext cx="4714875" cy="476250"/>
          </a:xfrm>
        </p:spPr>
        <p:txBody>
          <a:bodyPr/>
          <a:lstStyle/>
          <a:p>
            <a:pPr algn="l"/>
            <a:r>
              <a:rPr lang="en-US" dirty="0"/>
              <a:t>              </a:t>
            </a:r>
            <a:fld id="{348AA8EC-93FC-4A73-8ED3-9C6F6CB809D0}" type="slidenum">
              <a:rPr lang="en-US" smtClean="0"/>
              <a:t>6</a:t>
            </a:fld>
            <a:r>
              <a:rPr lang="en-US" dirty="0"/>
              <a:t>                                                                     </a:t>
            </a:r>
            <a:r>
              <a:rPr lang="en-US" dirty="0">
                <a:sym typeface="+mn-ea"/>
              </a:rPr>
              <a:t>Dept of  AIML</a:t>
            </a:r>
            <a:endParaRPr lang="en-US" dirty="0"/>
          </a:p>
        </p:txBody>
      </p:sp>
      <p:sp>
        <p:nvSpPr>
          <p:cNvPr id="6" name="Footer Placeholder 4">
            <a:extLst>
              <a:ext uri="{FF2B5EF4-FFF2-40B4-BE49-F238E27FC236}">
                <a16:creationId xmlns:a16="http://schemas.microsoft.com/office/drawing/2014/main" id="{AE4DC317-DB75-37CF-8070-52ABCD5C95AE}"/>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32CD7F-D647-D6B7-E96C-DEFF5A55983E}"/>
              </a:ext>
            </a:extLst>
          </p:cNvPr>
          <p:cNvSpPr>
            <a:spLocks noGrp="1"/>
          </p:cNvSpPr>
          <p:nvPr>
            <p:ph type="sldNum" sz="quarter" idx="12"/>
          </p:nvPr>
        </p:nvSpPr>
        <p:spPr>
          <a:xfrm>
            <a:off x="4724400" y="6324600"/>
            <a:ext cx="457200" cy="476250"/>
          </a:xfrm>
        </p:spPr>
        <p:txBody>
          <a:bodyPr/>
          <a:lstStyle/>
          <a:p>
            <a:fld id="{348AA8EC-93FC-4A73-8ED3-9C6F6CB809D0}" type="slidenum">
              <a:rPr lang="en-US" smtClean="0"/>
              <a:t>7</a:t>
            </a:fld>
            <a:endParaRPr lang="en-US" dirty="0"/>
          </a:p>
        </p:txBody>
      </p:sp>
      <p:sp>
        <p:nvSpPr>
          <p:cNvPr id="7" name="TextBox 6">
            <a:extLst>
              <a:ext uri="{FF2B5EF4-FFF2-40B4-BE49-F238E27FC236}">
                <a16:creationId xmlns:a16="http://schemas.microsoft.com/office/drawing/2014/main" id="{00575B17-B986-FE31-EF04-55D53D4DA8B8}"/>
              </a:ext>
            </a:extLst>
          </p:cNvPr>
          <p:cNvSpPr txBox="1"/>
          <p:nvPr/>
        </p:nvSpPr>
        <p:spPr>
          <a:xfrm>
            <a:off x="1143000" y="192960"/>
            <a:ext cx="7391400" cy="6000745"/>
          </a:xfrm>
          <a:prstGeom prst="rect">
            <a:avLst/>
          </a:prstGeom>
          <a:noFill/>
        </p:spPr>
        <p:txBody>
          <a:bodyPr wrap="square">
            <a:spAutoFit/>
          </a:bodyPr>
          <a:lstStyle/>
          <a:p>
            <a:pPr marL="82550" indent="0">
              <a:lnSpc>
                <a:spcPct val="150000"/>
              </a:lnSpc>
              <a:buNone/>
            </a:pPr>
            <a:r>
              <a:rPr lang="en-US" sz="2000" b="1" dirty="0">
                <a:latin typeface="Times New Roman" panose="02020603050405020304" pitchFamily="18" charset="0"/>
                <a:cs typeface="Times New Roman" panose="02020603050405020304" pitchFamily="18" charset="0"/>
              </a:rPr>
              <a:t>Methodology</a:t>
            </a:r>
            <a:r>
              <a:rPr lang="en-US" sz="1700" b="1" dirty="0">
                <a:latin typeface="Times New Roman" panose="02020603050405020304" pitchFamily="18" charset="0"/>
                <a:cs typeface="Times New Roman" panose="02020603050405020304" pitchFamily="18" charset="0"/>
              </a:rPr>
              <a:t> :</a:t>
            </a:r>
          </a:p>
          <a:p>
            <a:pPr marL="82550" indent="0">
              <a:lnSpc>
                <a:spcPct val="150000"/>
              </a:lnSpc>
              <a:buNone/>
            </a:pPr>
            <a:endParaRPr lang="en-US" sz="1700" dirty="0">
              <a:latin typeface="Times New Roman" panose="02020603050405020304" pitchFamily="18" charset="0"/>
              <a:cs typeface="Times New Roman" panose="02020603050405020304" pitchFamily="18" charset="0"/>
            </a:endParaRP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Data Collection:</a:t>
            </a:r>
            <a:r>
              <a:rPr lang="en-US" altLang="en-US" sz="1700" dirty="0">
                <a:latin typeface="Times New Roman" panose="02020603050405020304" pitchFamily="18" charset="0"/>
                <a:cs typeface="Times New Roman" panose="02020603050405020304" pitchFamily="18" charset="0"/>
              </a:rPr>
              <a:t> Extract textual data using web scraping and import datasets for analysis.</a:t>
            </a: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Preprocessing:</a:t>
            </a:r>
            <a:r>
              <a:rPr lang="en-US" altLang="en-US" sz="1700" dirty="0">
                <a:latin typeface="Times New Roman" panose="02020603050405020304" pitchFamily="18" charset="0"/>
                <a:cs typeface="Times New Roman" panose="02020603050405020304" pitchFamily="18" charset="0"/>
              </a:rPr>
              <a:t> Clean text by removing punctuation, tokenizing, stemming, lemmatizing, and vectorizing.</a:t>
            </a: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Feature Extraction:</a:t>
            </a:r>
            <a:r>
              <a:rPr lang="en-US" altLang="en-US" sz="1700" dirty="0">
                <a:latin typeface="Times New Roman" panose="02020603050405020304" pitchFamily="18" charset="0"/>
                <a:cs typeface="Times New Roman" panose="02020603050405020304" pitchFamily="18" charset="0"/>
              </a:rPr>
              <a:t> Convert text into numerical format using Count Vectorization and TF-IDF.</a:t>
            </a: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Model Training:</a:t>
            </a:r>
            <a:r>
              <a:rPr lang="en-US" altLang="en-US" sz="1700" dirty="0">
                <a:latin typeface="Times New Roman" panose="02020603050405020304" pitchFamily="18" charset="0"/>
                <a:cs typeface="Times New Roman" panose="02020603050405020304" pitchFamily="18" charset="0"/>
              </a:rPr>
              <a:t> Train machine learning models like XG Boost, Random Forest, Gradient Boosting, Logistic Regression ,Naïve Bayes and SVM.</a:t>
            </a: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Model Comparison : </a:t>
            </a:r>
            <a:r>
              <a:rPr lang="en-US" altLang="en-US" sz="1700" dirty="0">
                <a:latin typeface="Times New Roman" panose="02020603050405020304" pitchFamily="18" charset="0"/>
                <a:cs typeface="Times New Roman" panose="02020603050405020304" pitchFamily="18" charset="0"/>
              </a:rPr>
              <a:t>after training the comparison is done based on accuracy and the best fit model is known</a:t>
            </a:r>
            <a:endParaRPr lang="en-US" altLang="en-US" sz="1700" b="1" dirty="0">
              <a:latin typeface="Times New Roman" panose="02020603050405020304" pitchFamily="18" charset="0"/>
              <a:cs typeface="Times New Roman" panose="02020603050405020304" pitchFamily="18" charset="0"/>
            </a:endParaRP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Sentiment Classification:</a:t>
            </a:r>
            <a:r>
              <a:rPr lang="en-US" altLang="en-US" sz="1700" dirty="0">
                <a:latin typeface="Times New Roman" panose="02020603050405020304" pitchFamily="18" charset="0"/>
                <a:cs typeface="Times New Roman" panose="02020603050405020304" pitchFamily="18" charset="0"/>
              </a:rPr>
              <a:t> Categorize text into positive, negative sentiments</a:t>
            </a:r>
          </a:p>
          <a:p>
            <a:pPr marL="425450" indent="-342900">
              <a:lnSpc>
                <a:spcPct val="150000"/>
              </a:lnSpc>
              <a:buClr>
                <a:srgbClr val="000000"/>
              </a:buClr>
              <a:buFont typeface="+mj-lt"/>
              <a:buAutoNum type="arabicPeriod"/>
            </a:pPr>
            <a:r>
              <a:rPr lang="en-US" altLang="en-US" sz="1700" b="1" dirty="0">
                <a:latin typeface="Times New Roman" panose="02020603050405020304" pitchFamily="18" charset="0"/>
                <a:cs typeface="Times New Roman" panose="02020603050405020304" pitchFamily="18" charset="0"/>
              </a:rPr>
              <a:t>Result Analysis &amp; Comparison: </a:t>
            </a:r>
            <a:r>
              <a:rPr lang="en-US" altLang="en-US" sz="1700" dirty="0">
                <a:latin typeface="Times New Roman" panose="02020603050405020304" pitchFamily="18" charset="0"/>
                <a:cs typeface="Times New Roman" panose="02020603050405020304" pitchFamily="18" charset="0"/>
              </a:rPr>
              <a:t>Evaluate model accuracy and identify the best-performing classifier</a:t>
            </a:r>
          </a:p>
        </p:txBody>
      </p:sp>
      <p:sp>
        <p:nvSpPr>
          <p:cNvPr id="2" name="Slide Number Placeholder 4">
            <a:extLst>
              <a:ext uri="{FF2B5EF4-FFF2-40B4-BE49-F238E27FC236}">
                <a16:creationId xmlns:a16="http://schemas.microsoft.com/office/drawing/2014/main" id="{44FC060B-2FCF-7733-76C8-F0B9339C4C26}"/>
              </a:ext>
            </a:extLst>
          </p:cNvPr>
          <p:cNvSpPr txBox="1">
            <a:spLocks/>
          </p:cNvSpPr>
          <p:nvPr/>
        </p:nvSpPr>
        <p:spPr>
          <a:xfrm>
            <a:off x="7772400" y="6324600"/>
            <a:ext cx="1066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
        <p:nvSpPr>
          <p:cNvPr id="3" name="Footer Placeholder 4">
            <a:extLst>
              <a:ext uri="{FF2B5EF4-FFF2-40B4-BE49-F238E27FC236}">
                <a16:creationId xmlns:a16="http://schemas.microsoft.com/office/drawing/2014/main" id="{2CB8D488-C65B-043A-93FF-CB8E0CB4AEA3}"/>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Tree>
    <p:extLst>
      <p:ext uri="{BB962C8B-B14F-4D97-AF65-F5344CB8AC3E}">
        <p14:creationId xmlns:p14="http://schemas.microsoft.com/office/powerpoint/2010/main" val="3454701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487680"/>
          </a:xfrm>
        </p:spPr>
        <p:txBody>
          <a:bodyPr>
            <a:noAutofit/>
          </a:bodyPr>
          <a:lstStyle/>
          <a:p>
            <a:pPr algn="ctr"/>
            <a:r>
              <a:rPr lang="en-US" sz="3600" dirty="0"/>
              <a:t>Block Diagram</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76200"/>
            <a:ext cx="126841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descr="Image result for knsit logo">
            <a:hlinkClick r:id="rId4"/>
          </p:cNvPr>
          <p:cNvPicPr>
            <a:picLocks noChangeAspect="1" noChangeArrowheads="1"/>
          </p:cNvPicPr>
          <p:nvPr/>
        </p:nvPicPr>
        <p:blipFill>
          <a:blip r:embed="rId5"/>
          <a:srcRect/>
          <a:stretch>
            <a:fillRect/>
          </a:stretch>
        </p:blipFill>
        <p:spPr bwMode="auto">
          <a:xfrm>
            <a:off x="7848600" y="152400"/>
            <a:ext cx="962025" cy="990600"/>
          </a:xfrm>
          <a:prstGeom prst="rect">
            <a:avLst/>
          </a:prstGeom>
          <a:noFill/>
        </p:spPr>
      </p:pic>
      <p:sp>
        <p:nvSpPr>
          <p:cNvPr id="6" name="Slide Number Placeholder 5"/>
          <p:cNvSpPr>
            <a:spLocks noGrp="1"/>
          </p:cNvSpPr>
          <p:nvPr>
            <p:ph type="sldNum" sz="quarter" idx="12"/>
          </p:nvPr>
        </p:nvSpPr>
        <p:spPr>
          <a:xfrm>
            <a:off x="4419600" y="6305550"/>
            <a:ext cx="4621530" cy="476250"/>
          </a:xfrm>
        </p:spPr>
        <p:txBody>
          <a:bodyPr/>
          <a:lstStyle/>
          <a:p>
            <a:pPr algn="l"/>
            <a:r>
              <a:rPr lang="en-US" dirty="0"/>
              <a:t>                   </a:t>
            </a:r>
            <a:fld id="{348AA8EC-93FC-4A73-8ED3-9C6F6CB809D0}" type="slidenum">
              <a:rPr lang="en-US" smtClean="0"/>
              <a:t>8</a:t>
            </a:fld>
            <a:r>
              <a:rPr lang="en-US" dirty="0"/>
              <a:t>                                                               </a:t>
            </a:r>
            <a:r>
              <a:rPr lang="en-US" dirty="0">
                <a:sym typeface="+mn-ea"/>
              </a:rPr>
              <a:t>Dept of AIML</a:t>
            </a:r>
            <a:endParaRPr lang="en-US" dirty="0"/>
          </a:p>
        </p:txBody>
      </p:sp>
      <p:pic>
        <p:nvPicPr>
          <p:cNvPr id="11" name="Picture 10">
            <a:extLst>
              <a:ext uri="{FF2B5EF4-FFF2-40B4-BE49-F238E27FC236}">
                <a16:creationId xmlns:a16="http://schemas.microsoft.com/office/drawing/2014/main" id="{BADCAE3B-9DBE-2DFE-65AD-3F329A6E8FCC}"/>
              </a:ext>
            </a:extLst>
          </p:cNvPr>
          <p:cNvPicPr>
            <a:picLocks noChangeAspect="1"/>
          </p:cNvPicPr>
          <p:nvPr/>
        </p:nvPicPr>
        <p:blipFill>
          <a:blip r:embed="rId6"/>
          <a:stretch>
            <a:fillRect/>
          </a:stretch>
        </p:blipFill>
        <p:spPr>
          <a:xfrm>
            <a:off x="2438400" y="2448234"/>
            <a:ext cx="6705600" cy="1285566"/>
          </a:xfrm>
          <a:prstGeom prst="rect">
            <a:avLst/>
          </a:prstGeom>
        </p:spPr>
      </p:pic>
      <p:cxnSp>
        <p:nvCxnSpPr>
          <p:cNvPr id="13" name="Straight Arrow Connector 12">
            <a:extLst>
              <a:ext uri="{FF2B5EF4-FFF2-40B4-BE49-F238E27FC236}">
                <a16:creationId xmlns:a16="http://schemas.microsoft.com/office/drawing/2014/main" id="{B5452D49-2B92-4163-3A5F-B8E4EF9E5651}"/>
              </a:ext>
            </a:extLst>
          </p:cNvPr>
          <p:cNvCxnSpPr>
            <a:cxnSpLocks/>
          </p:cNvCxnSpPr>
          <p:nvPr/>
        </p:nvCxnSpPr>
        <p:spPr>
          <a:xfrm>
            <a:off x="8305800" y="3637938"/>
            <a:ext cx="0" cy="3619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A64C7134-80F7-1683-55F9-2EB5456F2151}"/>
              </a:ext>
            </a:extLst>
          </p:cNvPr>
          <p:cNvPicPr>
            <a:picLocks noChangeAspect="1"/>
          </p:cNvPicPr>
          <p:nvPr/>
        </p:nvPicPr>
        <p:blipFill>
          <a:blip r:embed="rId7"/>
          <a:stretch>
            <a:fillRect/>
          </a:stretch>
        </p:blipFill>
        <p:spPr>
          <a:xfrm>
            <a:off x="7467600" y="3999887"/>
            <a:ext cx="1466081" cy="1495109"/>
          </a:xfrm>
          <a:prstGeom prst="rect">
            <a:avLst/>
          </a:prstGeom>
        </p:spPr>
      </p:pic>
      <p:cxnSp>
        <p:nvCxnSpPr>
          <p:cNvPr id="18" name="Straight Arrow Connector 17">
            <a:extLst>
              <a:ext uri="{FF2B5EF4-FFF2-40B4-BE49-F238E27FC236}">
                <a16:creationId xmlns:a16="http://schemas.microsoft.com/office/drawing/2014/main" id="{FB7E21A4-6B4D-2719-6D22-88D457B85015}"/>
              </a:ext>
            </a:extLst>
          </p:cNvPr>
          <p:cNvCxnSpPr>
            <a:cxnSpLocks/>
          </p:cNvCxnSpPr>
          <p:nvPr/>
        </p:nvCxnSpPr>
        <p:spPr>
          <a:xfrm flipH="1">
            <a:off x="7239000" y="4790463"/>
            <a:ext cx="3047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1A8A513C-FB05-6D48-D771-C08641B77B62}"/>
              </a:ext>
            </a:extLst>
          </p:cNvPr>
          <p:cNvCxnSpPr>
            <a:cxnSpLocks/>
          </p:cNvCxnSpPr>
          <p:nvPr/>
        </p:nvCxnSpPr>
        <p:spPr>
          <a:xfrm flipH="1">
            <a:off x="5181600" y="4800600"/>
            <a:ext cx="3047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7" name="Picture 26">
            <a:extLst>
              <a:ext uri="{FF2B5EF4-FFF2-40B4-BE49-F238E27FC236}">
                <a16:creationId xmlns:a16="http://schemas.microsoft.com/office/drawing/2014/main" id="{832E0DC7-A154-B712-D90F-780D563A82CC}"/>
              </a:ext>
            </a:extLst>
          </p:cNvPr>
          <p:cNvPicPr>
            <a:picLocks noChangeAspect="1"/>
          </p:cNvPicPr>
          <p:nvPr/>
        </p:nvPicPr>
        <p:blipFill>
          <a:blip r:embed="rId8"/>
          <a:stretch>
            <a:fillRect/>
          </a:stretch>
        </p:blipFill>
        <p:spPr>
          <a:xfrm>
            <a:off x="3981449" y="4234633"/>
            <a:ext cx="1200150" cy="1285558"/>
          </a:xfrm>
          <a:prstGeom prst="rect">
            <a:avLst/>
          </a:prstGeom>
        </p:spPr>
      </p:pic>
      <p:pic>
        <p:nvPicPr>
          <p:cNvPr id="1026" name="Picture 2" descr="Sentiment Analysis In Retail Domain - Edureka Blog">
            <a:extLst>
              <a:ext uri="{FF2B5EF4-FFF2-40B4-BE49-F238E27FC236}">
                <a16:creationId xmlns:a16="http://schemas.microsoft.com/office/drawing/2014/main" id="{3D405DE9-DF33-2FE5-595C-A19E0270B3F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0838" t="9101" r="17871" b="2663"/>
          <a:stretch>
            <a:fillRect/>
          </a:stretch>
        </p:blipFill>
        <p:spPr bwMode="auto">
          <a:xfrm>
            <a:off x="1343027" y="4234634"/>
            <a:ext cx="2076449" cy="1133474"/>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a:extLst>
              <a:ext uri="{FF2B5EF4-FFF2-40B4-BE49-F238E27FC236}">
                <a16:creationId xmlns:a16="http://schemas.microsoft.com/office/drawing/2014/main" id="{21726CDF-6261-7058-561F-F2B3B3FE989C}"/>
              </a:ext>
            </a:extLst>
          </p:cNvPr>
          <p:cNvCxnSpPr>
            <a:cxnSpLocks/>
          </p:cNvCxnSpPr>
          <p:nvPr/>
        </p:nvCxnSpPr>
        <p:spPr>
          <a:xfrm flipH="1">
            <a:off x="3505200" y="4790463"/>
            <a:ext cx="3047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Footer Placeholder 4">
            <a:extLst>
              <a:ext uri="{FF2B5EF4-FFF2-40B4-BE49-F238E27FC236}">
                <a16:creationId xmlns:a16="http://schemas.microsoft.com/office/drawing/2014/main" id="{BB372469-63E5-71FA-7DE2-060D97C66593}"/>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pic>
        <p:nvPicPr>
          <p:cNvPr id="4" name="Picture 3">
            <a:extLst>
              <a:ext uri="{FF2B5EF4-FFF2-40B4-BE49-F238E27FC236}">
                <a16:creationId xmlns:a16="http://schemas.microsoft.com/office/drawing/2014/main" id="{E8AFAC02-CD1D-0220-6243-DA0F8F4A34FA}"/>
              </a:ext>
            </a:extLst>
          </p:cNvPr>
          <p:cNvPicPr>
            <a:picLocks noChangeAspect="1"/>
          </p:cNvPicPr>
          <p:nvPr/>
        </p:nvPicPr>
        <p:blipFill>
          <a:blip r:embed="rId10"/>
          <a:stretch>
            <a:fillRect/>
          </a:stretch>
        </p:blipFill>
        <p:spPr>
          <a:xfrm>
            <a:off x="5562600" y="4267200"/>
            <a:ext cx="1676400" cy="1066800"/>
          </a:xfrm>
          <a:prstGeom prst="rect">
            <a:avLst/>
          </a:prstGeom>
        </p:spPr>
      </p:pic>
      <p:pic>
        <p:nvPicPr>
          <p:cNvPr id="7" name="Picture 6">
            <a:extLst>
              <a:ext uri="{FF2B5EF4-FFF2-40B4-BE49-F238E27FC236}">
                <a16:creationId xmlns:a16="http://schemas.microsoft.com/office/drawing/2014/main" id="{C3F521A6-AB1A-D8CC-7D2D-5ACCDD1C1BD4}"/>
              </a:ext>
            </a:extLst>
          </p:cNvPr>
          <p:cNvPicPr>
            <a:picLocks noChangeAspect="1"/>
          </p:cNvPicPr>
          <p:nvPr/>
        </p:nvPicPr>
        <p:blipFill>
          <a:blip r:embed="rId11"/>
          <a:stretch>
            <a:fillRect/>
          </a:stretch>
        </p:blipFill>
        <p:spPr>
          <a:xfrm>
            <a:off x="1143000" y="1676400"/>
            <a:ext cx="1295400" cy="1828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9338" y="238125"/>
            <a:ext cx="8077200" cy="685800"/>
          </a:xfrm>
        </p:spPr>
        <p:txBody>
          <a:bodyPr>
            <a:normAutofit/>
          </a:bodyPr>
          <a:lstStyle/>
          <a:p>
            <a:pPr algn="ctr"/>
            <a:r>
              <a:rPr lang="en-US" sz="2800" dirty="0"/>
              <a:t>Hardware Components Explanation</a:t>
            </a:r>
          </a:p>
        </p:txBody>
      </p:sp>
      <p:sp>
        <p:nvSpPr>
          <p:cNvPr id="3" name="Content Placeholder 2"/>
          <p:cNvSpPr>
            <a:spLocks noGrp="1"/>
          </p:cNvSpPr>
          <p:nvPr>
            <p:ph idx="1"/>
          </p:nvPr>
        </p:nvSpPr>
        <p:spPr>
          <a:xfrm>
            <a:off x="1167130" y="1371600"/>
            <a:ext cx="7990840" cy="4128135"/>
          </a:xfrm>
        </p:spPr>
        <p:txBody>
          <a:bodyPr>
            <a:normAutofit/>
          </a:bodyPr>
          <a:lstStyle/>
          <a:p>
            <a:pPr marL="82550" indent="0" algn="just">
              <a:lnSpc>
                <a:spcPct val="150000"/>
              </a:lnSpc>
              <a:buNone/>
            </a:pPr>
            <a:endParaRPr lang="en-US" sz="2000" dirty="0">
              <a:latin typeface="Times New Roman" panose="02020603050405020304" pitchFamily="18" charset="0"/>
              <a:cs typeface="Times New Roman" panose="02020603050405020304" pitchFamily="18" charset="0"/>
            </a:endParaRPr>
          </a:p>
          <a:p>
            <a:pPr marL="539750" indent="-457200" algn="just">
              <a:lnSpc>
                <a:spcPct val="150000"/>
              </a:lnSpc>
              <a:buClr>
                <a:srgbClr val="000000"/>
              </a:buClr>
              <a:buFont typeface="+mj-lt"/>
              <a:buAutoNum type="arabicPeriod"/>
            </a:pPr>
            <a:r>
              <a:rPr lang="en-US" altLang="en-US" sz="2000" b="1" dirty="0">
                <a:latin typeface="Times New Roman" panose="02020603050405020304" pitchFamily="18" charset="0"/>
                <a:cs typeface="Times New Roman" panose="02020603050405020304" pitchFamily="18" charset="0"/>
              </a:rPr>
              <a:t>Processor :</a:t>
            </a:r>
            <a:r>
              <a:rPr lang="en-US" altLang="en-US" sz="2000" dirty="0">
                <a:latin typeface="Times New Roman" panose="02020603050405020304" pitchFamily="18" charset="0"/>
                <a:cs typeface="Times New Roman" panose="02020603050405020304" pitchFamily="18" charset="0"/>
              </a:rPr>
              <a:t> i5, i7, NVIDIA RTX (4GB,6GB)</a:t>
            </a:r>
          </a:p>
          <a:p>
            <a:pPr marL="539750" indent="-457200" algn="just">
              <a:lnSpc>
                <a:spcPct val="150000"/>
              </a:lnSpc>
              <a:buClr>
                <a:srgbClr val="000000"/>
              </a:buClr>
              <a:buFont typeface="+mj-lt"/>
              <a:buAutoNum type="arabicPeriod"/>
            </a:pPr>
            <a:r>
              <a:rPr lang="en-US" altLang="en-US" sz="2000" b="1" dirty="0">
                <a:latin typeface="Times New Roman" panose="02020603050405020304" pitchFamily="18" charset="0"/>
                <a:cs typeface="Times New Roman" panose="02020603050405020304" pitchFamily="18" charset="0"/>
              </a:rPr>
              <a:t>Output Devices :</a:t>
            </a:r>
            <a:r>
              <a:rPr lang="en-US" altLang="en-US" sz="2000" dirty="0">
                <a:latin typeface="Times New Roman" panose="02020603050405020304" pitchFamily="18" charset="0"/>
                <a:cs typeface="Times New Roman" panose="02020603050405020304" pitchFamily="18" charset="0"/>
              </a:rPr>
              <a:t> Monitor (LCD) </a:t>
            </a:r>
          </a:p>
          <a:p>
            <a:pPr marL="539750" indent="-457200" algn="just">
              <a:lnSpc>
                <a:spcPct val="150000"/>
              </a:lnSpc>
              <a:buClr>
                <a:srgbClr val="000000"/>
              </a:buClr>
              <a:buFont typeface="+mj-lt"/>
              <a:buAutoNum type="arabicPeriod"/>
            </a:pPr>
            <a:r>
              <a:rPr lang="en-US" altLang="en-US" sz="2000" b="1" dirty="0">
                <a:latin typeface="Times New Roman" panose="02020603050405020304" pitchFamily="18" charset="0"/>
                <a:cs typeface="Times New Roman" panose="02020603050405020304" pitchFamily="18" charset="0"/>
              </a:rPr>
              <a:t>Input Devices :</a:t>
            </a:r>
            <a:r>
              <a:rPr lang="en-US" altLang="en-US" sz="2000" dirty="0">
                <a:latin typeface="Times New Roman" panose="02020603050405020304" pitchFamily="18" charset="0"/>
                <a:cs typeface="Times New Roman" panose="02020603050405020304" pitchFamily="18" charset="0"/>
              </a:rPr>
              <a:t>Keyboard, Mouse </a:t>
            </a:r>
          </a:p>
          <a:p>
            <a:pPr marL="539750" indent="-457200" algn="just">
              <a:lnSpc>
                <a:spcPct val="150000"/>
              </a:lnSpc>
              <a:buClr>
                <a:srgbClr val="000000"/>
              </a:buClr>
              <a:buFont typeface="+mj-lt"/>
              <a:buAutoNum type="arabicPeriod"/>
            </a:pPr>
            <a:r>
              <a:rPr lang="en-US" altLang="en-US" sz="2000" b="1" dirty="0">
                <a:latin typeface="Times New Roman" panose="02020603050405020304" pitchFamily="18" charset="0"/>
                <a:cs typeface="Times New Roman" panose="02020603050405020304" pitchFamily="18" charset="0"/>
              </a:rPr>
              <a:t>Hard Disk : </a:t>
            </a:r>
            <a:r>
              <a:rPr lang="en-US" altLang="en-US" sz="2000" dirty="0">
                <a:latin typeface="Times New Roman" panose="02020603050405020304" pitchFamily="18" charset="0"/>
                <a:cs typeface="Times New Roman" panose="02020603050405020304" pitchFamily="18" charset="0"/>
              </a:rPr>
              <a:t>512GB OR ABOVE </a:t>
            </a:r>
          </a:p>
          <a:p>
            <a:pPr marL="539750" indent="-457200" algn="just">
              <a:lnSpc>
                <a:spcPct val="150000"/>
              </a:lnSpc>
              <a:buClr>
                <a:srgbClr val="000000"/>
              </a:buClr>
              <a:buFont typeface="+mj-lt"/>
              <a:buAutoNum type="arabicPeriod"/>
            </a:pPr>
            <a:r>
              <a:rPr lang="en-US" altLang="en-US" sz="2000" b="1" dirty="0">
                <a:latin typeface="Times New Roman" panose="02020603050405020304" pitchFamily="18" charset="0"/>
                <a:cs typeface="Times New Roman" panose="02020603050405020304" pitchFamily="18" charset="0"/>
              </a:rPr>
              <a:t>RAM :</a:t>
            </a:r>
            <a:r>
              <a:rPr lang="en-US" altLang="en-US" sz="2000" dirty="0">
                <a:latin typeface="Times New Roman" panose="02020603050405020304" pitchFamily="18" charset="0"/>
                <a:cs typeface="Times New Roman" panose="02020603050405020304" pitchFamily="18" charset="0"/>
              </a:rPr>
              <a:t>16GB or above</a:t>
            </a:r>
          </a:p>
          <a:p>
            <a:pPr marL="539750" indent="-457200" algn="just">
              <a:lnSpc>
                <a:spcPct val="150000"/>
              </a:lnSpc>
              <a:buClr>
                <a:srgbClr val="000000"/>
              </a:buClr>
              <a:buFont typeface="+mj-lt"/>
              <a:buAutoNum type="arabicPeriod"/>
            </a:pPr>
            <a:r>
              <a:rPr lang="en-US" sz="2000" b="1" dirty="0">
                <a:latin typeface="Times New Roman" panose="02020603050405020304" pitchFamily="18" charset="0"/>
                <a:cs typeface="Times New Roman" panose="02020603050405020304" pitchFamily="18" charset="0"/>
                <a:sym typeface="+mn-ea"/>
              </a:rPr>
              <a:t>Internet Connection: </a:t>
            </a:r>
            <a:r>
              <a:rPr lang="en-US" sz="2000" dirty="0">
                <a:latin typeface="Times New Roman" panose="02020603050405020304" pitchFamily="18" charset="0"/>
                <a:cs typeface="Times New Roman" panose="02020603050405020304" pitchFamily="18" charset="0"/>
                <a:sym typeface="+mn-ea"/>
              </a:rPr>
              <a:t>Required for API access and data streaming</a:t>
            </a:r>
            <a:endParaRPr lang="en-US" sz="2000" dirty="0">
              <a:latin typeface="Times New Roman" panose="02020603050405020304" pitchFamily="18" charset="0"/>
              <a:cs typeface="Times New Roman" panose="02020603050405020304" pitchFamily="18" charset="0"/>
            </a:endParaRPr>
          </a:p>
          <a:p>
            <a:pPr marL="539750" indent="-457200" algn="just">
              <a:lnSpc>
                <a:spcPct val="150000"/>
              </a:lnSpc>
              <a:buClr>
                <a:srgbClr val="000000"/>
              </a:buClr>
              <a:buFont typeface="+mj-lt"/>
              <a:buAutoNum type="arabicPeriod"/>
            </a:pPr>
            <a:endParaRPr lang="en-US" altLang="en-US" sz="2000"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045" y="110088"/>
            <a:ext cx="1268413" cy="89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descr="Image result for knsit logo">
            <a:hlinkClick r:id="rId4"/>
          </p:cNvPr>
          <p:cNvPicPr>
            <a:picLocks noChangeAspect="1" noChangeArrowheads="1"/>
          </p:cNvPicPr>
          <p:nvPr/>
        </p:nvPicPr>
        <p:blipFill>
          <a:blip r:embed="rId5"/>
          <a:srcRect/>
          <a:stretch>
            <a:fillRect/>
          </a:stretch>
        </p:blipFill>
        <p:spPr bwMode="auto">
          <a:xfrm>
            <a:off x="8001000" y="152400"/>
            <a:ext cx="962025" cy="857251"/>
          </a:xfrm>
          <a:prstGeom prst="rect">
            <a:avLst/>
          </a:prstGeom>
          <a:noFill/>
        </p:spPr>
      </p:pic>
      <p:sp>
        <p:nvSpPr>
          <p:cNvPr id="10" name="Slide Number Placeholder 9"/>
          <p:cNvSpPr>
            <a:spLocks noGrp="1"/>
          </p:cNvSpPr>
          <p:nvPr>
            <p:ph type="sldNum" sz="quarter" idx="12"/>
          </p:nvPr>
        </p:nvSpPr>
        <p:spPr>
          <a:xfrm>
            <a:off x="4284980" y="6305550"/>
            <a:ext cx="4785995" cy="476250"/>
          </a:xfrm>
        </p:spPr>
        <p:txBody>
          <a:bodyPr/>
          <a:lstStyle/>
          <a:p>
            <a:pPr algn="l"/>
            <a:r>
              <a:rPr lang="en-US" dirty="0"/>
              <a:t>             </a:t>
            </a:r>
            <a:fld id="{348AA8EC-93FC-4A73-8ED3-9C6F6CB809D0}" type="slidenum">
              <a:rPr lang="en-US" smtClean="0"/>
              <a:t>9</a:t>
            </a:fld>
            <a:r>
              <a:rPr lang="en-US" dirty="0"/>
              <a:t>                                                                       </a:t>
            </a:r>
            <a:r>
              <a:rPr lang="en-US" dirty="0">
                <a:sym typeface="+mn-ea"/>
              </a:rPr>
              <a:t>Dept of AIML</a:t>
            </a:r>
            <a:endParaRPr lang="en-US" dirty="0"/>
          </a:p>
        </p:txBody>
      </p:sp>
      <p:sp>
        <p:nvSpPr>
          <p:cNvPr id="4" name="Footer Placeholder 4">
            <a:extLst>
              <a:ext uri="{FF2B5EF4-FFF2-40B4-BE49-F238E27FC236}">
                <a16:creationId xmlns:a16="http://schemas.microsoft.com/office/drawing/2014/main" id="{41C2ACE8-1B7E-0D51-4686-F74417F854FD}"/>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487680"/>
          </a:xfrm>
        </p:spPr>
        <p:txBody>
          <a:bodyPr>
            <a:noAutofit/>
          </a:bodyPr>
          <a:lstStyle/>
          <a:p>
            <a:pPr algn="ctr"/>
            <a:r>
              <a:rPr lang="en-US" sz="3200" dirty="0"/>
              <a:t>Software Requirements</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7620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descr="Image result for knsit logo">
            <a:hlinkClick r:id="rId4"/>
          </p:cNvPr>
          <p:cNvPicPr>
            <a:picLocks noChangeAspect="1" noChangeArrowheads="1"/>
          </p:cNvPicPr>
          <p:nvPr/>
        </p:nvPicPr>
        <p:blipFill>
          <a:blip r:embed="rId5"/>
          <a:srcRect/>
          <a:stretch>
            <a:fillRect/>
          </a:stretch>
        </p:blipFill>
        <p:spPr bwMode="auto">
          <a:xfrm>
            <a:off x="8001000" y="228600"/>
            <a:ext cx="962025" cy="857251"/>
          </a:xfrm>
          <a:prstGeom prst="rect">
            <a:avLst/>
          </a:prstGeom>
          <a:noFill/>
        </p:spPr>
      </p:pic>
      <p:sp>
        <p:nvSpPr>
          <p:cNvPr id="4" name="Rectangle 2"/>
          <p:cNvSpPr>
            <a:spLocks noGrp="1" noChangeArrowheads="1"/>
          </p:cNvSpPr>
          <p:nvPr>
            <p:ph sz="half" idx="2"/>
          </p:nvPr>
        </p:nvSpPr>
        <p:spPr bwMode="auto">
          <a:xfrm>
            <a:off x="1298575" y="1087755"/>
            <a:ext cx="7772400" cy="5145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74320" lvl="1" indent="0" algn="just" eaLnBrk="0" fontAlgn="base" hangingPunct="0">
              <a:lnSpc>
                <a:spcPct val="150000"/>
              </a:lnSpc>
              <a:spcBef>
                <a:spcPct val="0"/>
              </a:spcBef>
              <a:spcAft>
                <a:spcPct val="0"/>
              </a:spcAft>
              <a:buClr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Version 3.10.9</a:t>
            </a: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a:t>
            </a: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 Pandas NLTK (Natural Language Toolkit), Scikit-learn,</a:t>
            </a: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Matplotlib, Seaborn </a:t>
            </a: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10 or 11</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Environment:</a:t>
            </a:r>
            <a:endParaRPr lang="en-US" altLang="en-US" sz="1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 and VS Code (used as the primary IDE), GoogleCOLAB</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Platform:</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Compatible with Windows, Linux, and Mac OS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4194175" y="6305550"/>
            <a:ext cx="4876800" cy="476250"/>
          </a:xfrm>
        </p:spPr>
        <p:txBody>
          <a:bodyPr/>
          <a:lstStyle/>
          <a:p>
            <a:pPr algn="l"/>
            <a:r>
              <a:rPr lang="en-US" dirty="0"/>
              <a:t>           </a:t>
            </a:r>
            <a:fld id="{348AA8EC-93FC-4A73-8ED3-9C6F6CB809D0}" type="slidenum">
              <a:rPr lang="en-US" smtClean="0"/>
              <a:t>10</a:t>
            </a:fld>
            <a:r>
              <a:rPr lang="en-US" dirty="0"/>
              <a:t>                                                                           </a:t>
            </a:r>
            <a:r>
              <a:rPr lang="en-US" dirty="0">
                <a:sym typeface="+mn-ea"/>
              </a:rPr>
              <a:t>Dept of AIML</a:t>
            </a:r>
            <a:endParaRPr lang="en-US" dirty="0"/>
          </a:p>
        </p:txBody>
      </p:sp>
      <p:sp>
        <p:nvSpPr>
          <p:cNvPr id="3" name="Footer Placeholder 4">
            <a:extLst>
              <a:ext uri="{FF2B5EF4-FFF2-40B4-BE49-F238E27FC236}">
                <a16:creationId xmlns:a16="http://schemas.microsoft.com/office/drawing/2014/main" id="{5B68A21A-8022-35C6-3B8B-F5B93AB19CD0}"/>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242" y="171450"/>
            <a:ext cx="7498080" cy="762000"/>
          </a:xfrm>
        </p:spPr>
        <p:txBody>
          <a:bodyPr>
            <a:normAutofit/>
          </a:bodyPr>
          <a:lstStyle/>
          <a:p>
            <a:pPr algn="ctr"/>
            <a:r>
              <a:rPr lang="en-US" sz="3600" dirty="0"/>
              <a:t>Algorithm Explanation</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7620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Image result for knsit logo">
            <a:hlinkClick r:id="rId4"/>
          </p:cNvPr>
          <p:cNvPicPr>
            <a:picLocks noChangeAspect="1" noChangeArrowheads="1"/>
          </p:cNvPicPr>
          <p:nvPr/>
        </p:nvPicPr>
        <p:blipFill>
          <a:blip r:embed="rId5"/>
          <a:srcRect/>
          <a:stretch>
            <a:fillRect/>
          </a:stretch>
        </p:blipFill>
        <p:spPr bwMode="auto">
          <a:xfrm>
            <a:off x="8077200" y="76200"/>
            <a:ext cx="962025" cy="857251"/>
          </a:xfrm>
          <a:prstGeom prst="rect">
            <a:avLst/>
          </a:prstGeom>
          <a:noFill/>
        </p:spPr>
      </p:pic>
      <mc:AlternateContent xmlns:mc="http://schemas.openxmlformats.org/markup-compatibility/2006" xmlns:a14="http://schemas.microsoft.com/office/drawing/2010/main">
        <mc:Choice Requires="a14">
          <p:sp>
            <p:nvSpPr>
              <p:cNvPr id="8" name="Rectangle 2"/>
              <p:cNvSpPr>
                <a:spLocks noGrp="1" noChangeArrowheads="1"/>
              </p:cNvSpPr>
              <p:nvPr>
                <p:ph sz="half" idx="1"/>
              </p:nvPr>
            </p:nvSpPr>
            <p:spPr bwMode="auto">
              <a:xfrm>
                <a:off x="990600" y="228600"/>
                <a:ext cx="7944485" cy="74676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82550" indent="0" algn="just">
                  <a:lnSpc>
                    <a:spcPct val="150000"/>
                  </a:lnSpc>
                  <a:buClr>
                    <a:srgbClr val="000000"/>
                  </a:buClr>
                  <a:buNone/>
                </a:pPr>
                <a:endParaRPr lang="en-US" altLang="en-US" sz="1500" b="1" dirty="0">
                  <a:latin typeface="Times New Roman" panose="02020603050405020304" pitchFamily="18" charset="0"/>
                  <a:cs typeface="Times New Roman" panose="02020603050405020304" pitchFamily="18" charset="0"/>
                </a:endParaRPr>
              </a:p>
              <a:p>
                <a:pPr marL="82550" indent="0" algn="just">
                  <a:lnSpc>
                    <a:spcPct val="150000"/>
                  </a:lnSpc>
                  <a:buClr>
                    <a:srgbClr val="000000"/>
                  </a:buClr>
                  <a:buNone/>
                </a:pPr>
                <a:endParaRPr lang="en-US" altLang="en-US" sz="1500" b="1" dirty="0">
                  <a:latin typeface="Times New Roman" panose="02020603050405020304" pitchFamily="18" charset="0"/>
                  <a:cs typeface="Times New Roman" panose="02020603050405020304" pitchFamily="18" charset="0"/>
                </a:endParaRPr>
              </a:p>
              <a:p>
                <a:pPr marL="425450" indent="-342900" algn="just">
                  <a:lnSpc>
                    <a:spcPct val="150000"/>
                  </a:lnSpc>
                  <a:buClr>
                    <a:srgbClr val="000000"/>
                  </a:buClr>
                  <a:buFont typeface="+mj-lt"/>
                  <a:buAutoNum type="arabicPeriod"/>
                </a:pPr>
                <a:r>
                  <a:rPr lang="en-US" altLang="en-US" sz="1500" b="1" dirty="0">
                    <a:latin typeface="Times New Roman" panose="02020603050405020304" pitchFamily="18" charset="0"/>
                    <a:cs typeface="Times New Roman" panose="02020603050405020304" pitchFamily="18" charset="0"/>
                  </a:rPr>
                  <a:t>Random Forest Classifier: </a:t>
                </a:r>
                <a:r>
                  <a:rPr lang="en-US" altLang="en-US" sz="1500" dirty="0">
                    <a:latin typeface="Times New Roman" panose="02020603050405020304" pitchFamily="18" charset="0"/>
                    <a:cs typeface="Times New Roman" panose="02020603050405020304" pitchFamily="18" charset="0"/>
                  </a:rPr>
                  <a:t>An ensemble approach combining multiple decision trees to improve accuracy and reduce overfitting. It handles missing data effectively and enhances robustness compared to single trees.</a:t>
                </a:r>
              </a:p>
              <a:p>
                <a:pPr marL="82550" indent="0" algn="just">
                  <a:lnSpc>
                    <a:spcPct val="150000"/>
                  </a:lnSpc>
                  <a:buClr>
                    <a:srgbClr val="000000"/>
                  </a:buClr>
                  <a:buNone/>
                </a:pPr>
                <a:endParaRPr lang="en-US" altLang="en-US" sz="1500" dirty="0">
                  <a:latin typeface="Times New Roman" panose="02020603050405020304" pitchFamily="18" charset="0"/>
                  <a:cs typeface="Times New Roman" panose="02020603050405020304" pitchFamily="18" charset="0"/>
                </a:endParaRPr>
              </a:p>
              <a:p>
                <a:pPr marL="82550" indent="0" algn="just">
                  <a:lnSpc>
                    <a:spcPct val="150000"/>
                  </a:lnSpc>
                  <a:buClr>
                    <a:srgbClr val="000000"/>
                  </a:buClr>
                  <a:buNone/>
                </a:pPr>
                <a:r>
                  <a:rPr lang="en-US" sz="1500" dirty="0">
                    <a:latin typeface="Times New Roman" panose="02020603050405020304" pitchFamily="18" charset="0"/>
                    <a:cs typeface="Times New Roman" panose="02020603050405020304" pitchFamily="18" charset="0"/>
                  </a:rPr>
                  <a:t>This formula shows that the Random Forest's final prediction (</a:t>
                </a:r>
                <a14:m>
                  <m:oMath xmlns:m="http://schemas.openxmlformats.org/officeDocument/2006/math">
                    <m:acc>
                      <m:accPr>
                        <m:chr m:val="̂"/>
                        <m:ctrlPr>
                          <a:rPr lang="en-US" sz="1500" i="1" smtClean="0">
                            <a:latin typeface="Cambria Math" panose="02040503050406030204" pitchFamily="18" charset="0"/>
                            <a:cs typeface="Times New Roman" panose="02020603050405020304" pitchFamily="18" charset="0"/>
                          </a:rPr>
                        </m:ctrlPr>
                      </m:accPr>
                      <m:e>
                        <m:r>
                          <a:rPr lang="en-IN" sz="1500" b="0" i="1" smtClean="0">
                            <a:latin typeface="Cambria Math" panose="02040503050406030204" pitchFamily="18" charset="0"/>
                            <a:cs typeface="Times New Roman" panose="02020603050405020304" pitchFamily="18" charset="0"/>
                          </a:rPr>
                          <m:t>𝑦</m:t>
                        </m:r>
                      </m:e>
                    </m:acc>
                    <m:r>
                      <a:rPr lang="en-IN" sz="1500" b="0" i="1" smtClean="0">
                        <a:latin typeface="Cambria Math" panose="02040503050406030204" pitchFamily="18" charset="0"/>
                        <a:cs typeface="Times New Roman" panose="02020603050405020304" pitchFamily="18" charset="0"/>
                      </a:rPr>
                      <m:t>)</m:t>
                    </m:r>
                  </m:oMath>
                </a14:m>
                <a:r>
                  <a:rPr lang="en-US" sz="1500" dirty="0">
                    <a:latin typeface="Times New Roman" panose="02020603050405020304" pitchFamily="18" charset="0"/>
                    <a:cs typeface="Times New Roman" panose="02020603050405020304" pitchFamily="18" charset="0"/>
                  </a:rPr>
                  <a:t> is the </a:t>
                </a:r>
                <a:r>
                  <a:rPr lang="en-US" sz="1500" b="1" dirty="0">
                    <a:latin typeface="Times New Roman" panose="02020603050405020304" pitchFamily="18" charset="0"/>
                    <a:cs typeface="Times New Roman" panose="02020603050405020304" pitchFamily="18" charset="0"/>
                  </a:rPr>
                  <a:t>mode</a:t>
                </a:r>
                <a:r>
                  <a:rPr lang="en-US" sz="1500" dirty="0">
                    <a:latin typeface="Times New Roman" panose="02020603050405020304" pitchFamily="18" charset="0"/>
                    <a:cs typeface="Times New Roman" panose="02020603050405020304" pitchFamily="18" charset="0"/>
                  </a:rPr>
                  <a:t>, or the most frequent vote, from the individual predictions (</a:t>
                </a:r>
                <a14:m>
                  <m:oMath xmlns:m="http://schemas.openxmlformats.org/officeDocument/2006/math">
                    <m:acc>
                      <m:accPr>
                        <m:chr m:val="̂"/>
                        <m:ctrlPr>
                          <a:rPr lang="en-US" sz="1500" i="1" smtClean="0">
                            <a:latin typeface="Cambria Math" panose="02040503050406030204" pitchFamily="18" charset="0"/>
                            <a:cs typeface="Times New Roman" panose="02020603050405020304" pitchFamily="18" charset="0"/>
                          </a:rPr>
                        </m:ctrlPr>
                      </m:accPr>
                      <m:e>
                        <m:r>
                          <a:rPr lang="en-IN" sz="1500" b="0" i="1" smtClean="0">
                            <a:latin typeface="Cambria Math" panose="02040503050406030204" pitchFamily="18" charset="0"/>
                            <a:cs typeface="Times New Roman" panose="02020603050405020304" pitchFamily="18" charset="0"/>
                          </a:rPr>
                          <m:t>𝑦</m:t>
                        </m:r>
                      </m:e>
                    </m:acc>
                    <m:r>
                      <a:rPr lang="en-IN" sz="1500" b="0" i="1" smtClean="0">
                        <a:latin typeface="Cambria Math" panose="02040503050406030204" pitchFamily="18" charset="0"/>
                        <a:cs typeface="Times New Roman" panose="02020603050405020304" pitchFamily="18" charset="0"/>
                      </a:rPr>
                      <m:t>1</m:t>
                    </m:r>
                    <m:r>
                      <a:rPr lang="en-IN" sz="1500" b="0" i="1" smtClean="0">
                        <a:latin typeface="Cambria Math" panose="02040503050406030204" pitchFamily="18" charset="0"/>
                        <a:cs typeface="Times New Roman" panose="02020603050405020304" pitchFamily="18" charset="0"/>
                      </a:rPr>
                      <m:t>,</m:t>
                    </m:r>
                    <m:acc>
                      <m:accPr>
                        <m:chr m:val="̂"/>
                        <m:ctrlPr>
                          <a:rPr lang="en-IN" sz="1500" b="0" i="1" smtClean="0">
                            <a:latin typeface="Cambria Math" panose="02040503050406030204" pitchFamily="18" charset="0"/>
                            <a:cs typeface="Times New Roman" panose="02020603050405020304" pitchFamily="18" charset="0"/>
                          </a:rPr>
                        </m:ctrlPr>
                      </m:accPr>
                      <m:e>
                        <m:r>
                          <a:rPr lang="en-IN" sz="1500" b="0" i="1" smtClean="0">
                            <a:latin typeface="Cambria Math" panose="02040503050406030204" pitchFamily="18" charset="0"/>
                            <a:cs typeface="Times New Roman" panose="02020603050405020304" pitchFamily="18" charset="0"/>
                          </a:rPr>
                          <m:t>𝑦</m:t>
                        </m:r>
                      </m:e>
                    </m:acc>
                    <m:r>
                      <a:rPr lang="en-IN" sz="1500" b="0" i="1" smtClean="0">
                        <a:latin typeface="Cambria Math" panose="02040503050406030204" pitchFamily="18" charset="0"/>
                        <a:cs typeface="Times New Roman" panose="02020603050405020304" pitchFamily="18" charset="0"/>
                      </a:rPr>
                      <m:t>2</m:t>
                    </m:r>
                    <m:r>
                      <a:rPr lang="en-IN" sz="1500" b="0" i="1" smtClean="0">
                        <a:latin typeface="Cambria Math" panose="02040503050406030204" pitchFamily="18" charset="0"/>
                        <a:cs typeface="Times New Roman" panose="02020603050405020304" pitchFamily="18" charset="0"/>
                      </a:rPr>
                      <m:t>,…</m:t>
                    </m:r>
                    <m:acc>
                      <m:accPr>
                        <m:chr m:val="̂"/>
                        <m:ctrlPr>
                          <a:rPr lang="en-IN" sz="1500" b="0" i="1" smtClean="0">
                            <a:latin typeface="Cambria Math" panose="02040503050406030204" pitchFamily="18" charset="0"/>
                            <a:cs typeface="Times New Roman" panose="02020603050405020304" pitchFamily="18" charset="0"/>
                          </a:rPr>
                        </m:ctrlPr>
                      </m:accPr>
                      <m:e>
                        <m:r>
                          <a:rPr lang="en-IN" sz="1500" b="0" i="1" smtClean="0">
                            <a:latin typeface="Cambria Math" panose="02040503050406030204" pitchFamily="18" charset="0"/>
                            <a:cs typeface="Times New Roman" panose="02020603050405020304" pitchFamily="18" charset="0"/>
                          </a:rPr>
                          <m:t>𝑦</m:t>
                        </m:r>
                      </m:e>
                    </m:acc>
                    <m:r>
                      <a:rPr lang="en-IN" sz="1500" b="0" i="1" smtClean="0">
                        <a:latin typeface="Cambria Math" panose="02040503050406030204" pitchFamily="18" charset="0"/>
                        <a:cs typeface="Times New Roman" panose="02020603050405020304" pitchFamily="18" charset="0"/>
                      </a:rPr>
                      <m:t>𝑛</m:t>
                    </m:r>
                    <m:r>
                      <a:rPr lang="en-IN" sz="1500" b="0" i="1" smtClean="0">
                        <a:latin typeface="Cambria Math" panose="02040503050406030204" pitchFamily="18" charset="0"/>
                        <a:cs typeface="Times New Roman" panose="02020603050405020304" pitchFamily="18" charset="0"/>
                      </a:rPr>
                      <m:t>)</m:t>
                    </m:r>
                  </m:oMath>
                </a14:m>
                <a:r>
                  <a:rPr lang="en-US" sz="1500" dirty="0">
                    <a:latin typeface="Times New Roman" panose="02020603050405020304" pitchFamily="18" charset="0"/>
                    <a:cs typeface="Times New Roman" panose="02020603050405020304" pitchFamily="18" charset="0"/>
                  </a:rPr>
                  <a:t> made by each of its k </a:t>
                </a:r>
                <a:r>
                  <a:rPr lang="en-IN" sz="1500" dirty="0">
                    <a:latin typeface="Times New Roman" panose="02020603050405020304" pitchFamily="18" charset="0"/>
                    <a:cs typeface="Times New Roman" panose="02020603050405020304" pitchFamily="18" charset="0"/>
                  </a:rPr>
                  <a:t>decision trees.</a:t>
                </a:r>
                <a:endParaRPr lang="en-US" altLang="en-US" sz="1500" dirty="0">
                  <a:latin typeface="Times New Roman" panose="02020603050405020304" pitchFamily="18" charset="0"/>
                  <a:cs typeface="Times New Roman" panose="02020603050405020304" pitchFamily="18" charset="0"/>
                </a:endParaRPr>
              </a:p>
              <a:p>
                <a:pPr marL="425450" indent="-342900" algn="just">
                  <a:lnSpc>
                    <a:spcPct val="150000"/>
                  </a:lnSpc>
                  <a:buClr>
                    <a:srgbClr val="000000"/>
                  </a:buClr>
                  <a:buFont typeface="+mj-lt"/>
                  <a:buAutoNum type="arabicPeriod" startAt="2"/>
                </a:pPr>
                <a:r>
                  <a:rPr lang="en-US" altLang="en-US" sz="1500" b="1" dirty="0">
                    <a:latin typeface="Times New Roman" panose="02020603050405020304" pitchFamily="18" charset="0"/>
                    <a:cs typeface="Times New Roman" panose="02020603050405020304" pitchFamily="18" charset="0"/>
                  </a:rPr>
                  <a:t>Logistic Regression:</a:t>
                </a:r>
                <a:r>
                  <a:rPr lang="en-US" altLang="en-US" sz="1500" dirty="0">
                    <a:latin typeface="Times New Roman" panose="02020603050405020304" pitchFamily="18" charset="0"/>
                    <a:cs typeface="Times New Roman" panose="02020603050405020304" pitchFamily="18" charset="0"/>
                  </a:rPr>
                  <a:t> A statistical model used for binary sentiment classification, estimating probabilities with a logistic function. It performs well for linearly separable data but struggles with complex relationships.</a:t>
                </a:r>
              </a:p>
              <a:p>
                <a:pPr marL="82550" indent="0" algn="just">
                  <a:lnSpc>
                    <a:spcPct val="150000"/>
                  </a:lnSpc>
                  <a:buClr>
                    <a:srgbClr val="000000"/>
                  </a:buClr>
                  <a:buNone/>
                </a:pPr>
                <a:endParaRPr lang="en-US" sz="1600" dirty="0"/>
              </a:p>
              <a:p>
                <a:pPr marL="82550" indent="0" algn="just">
                  <a:lnSpc>
                    <a:spcPct val="150000"/>
                  </a:lnSpc>
                  <a:buClr>
                    <a:srgbClr val="000000"/>
                  </a:buClr>
                  <a:buNone/>
                </a:pPr>
                <a:r>
                  <a:rPr lang="en-US" sz="1500" dirty="0">
                    <a:latin typeface="Times New Roman" panose="02020603050405020304" pitchFamily="18" charset="0"/>
                    <a:cs typeface="Times New Roman" panose="02020603050405020304" pitchFamily="18" charset="0"/>
                  </a:rPr>
                  <a:t>This image displays the sigmoid function </a:t>
                </a:r>
                <a14:m>
                  <m:oMath xmlns:m="http://schemas.openxmlformats.org/officeDocument/2006/math">
                    <m:r>
                      <a:rPr lang="en-IN" sz="1500" b="0" i="1" smtClean="0">
                        <a:latin typeface="Cambria Math" panose="02040503050406030204" pitchFamily="18" charset="0"/>
                      </a:rPr>
                      <m:t>(</m:t>
                    </m:r>
                    <m:r>
                      <a:rPr lang="en-IN" sz="1500" b="0" i="1" smtClean="0">
                        <a:latin typeface="Cambria Math" panose="02040503050406030204" pitchFamily="18" charset="0"/>
                        <a:ea typeface="Cambria Math" panose="02040503050406030204" pitchFamily="18" charset="0"/>
                      </a:rPr>
                      <m:t>𝜎</m:t>
                    </m:r>
                    <m:d>
                      <m:dPr>
                        <m:ctrlPr>
                          <a:rPr lang="en-IN" sz="1500" i="1" smtClean="0">
                            <a:latin typeface="Cambria Math" panose="02040503050406030204" pitchFamily="18" charset="0"/>
                            <a:ea typeface="Cambria Math" panose="02040503050406030204" pitchFamily="18" charset="0"/>
                          </a:rPr>
                        </m:ctrlPr>
                      </m:dPr>
                      <m:e>
                        <m:r>
                          <a:rPr lang="en-IN" sz="1500" b="0" i="1" smtClean="0">
                            <a:latin typeface="Cambria Math" panose="02040503050406030204" pitchFamily="18" charset="0"/>
                            <a:ea typeface="Cambria Math" panose="02040503050406030204" pitchFamily="18" charset="0"/>
                          </a:rPr>
                          <m:t>𝑧</m:t>
                        </m:r>
                      </m:e>
                    </m:d>
                    <m:r>
                      <a:rPr lang="en-IN" sz="1500" b="0" i="1" smtClean="0">
                        <a:latin typeface="Cambria Math" panose="02040503050406030204" pitchFamily="18" charset="0"/>
                        <a:ea typeface="Cambria Math" panose="02040503050406030204" pitchFamily="18" charset="0"/>
                      </a:rPr>
                      <m:t>)</m:t>
                    </m:r>
                  </m:oMath>
                </a14:m>
                <a:r>
                  <a:rPr lang="en-US" altLang="en-US"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which is central to Logistic Regression. It calculates the probability (P) </a:t>
                </a:r>
                <a:r>
                  <a:rPr lang="en-IN" sz="1500" dirty="0">
                    <a:latin typeface="Times New Roman" panose="02020603050405020304" pitchFamily="18" charset="0"/>
                    <a:cs typeface="Times New Roman" panose="02020603050405020304" pitchFamily="18" charset="0"/>
                  </a:rPr>
                  <a:t>that the outcome (y) </a:t>
                </a:r>
                <a:r>
                  <a:rPr lang="en-US" sz="1500" dirty="0">
                    <a:latin typeface="Times New Roman" panose="02020603050405020304" pitchFamily="18" charset="0"/>
                    <a:cs typeface="Times New Roman" panose="02020603050405020304" pitchFamily="18" charset="0"/>
                  </a:rPr>
                  <a:t>is 1 (the positive class), </a:t>
                </a:r>
                <a:r>
                  <a:rPr lang="en-IN" sz="1500" dirty="0">
                    <a:latin typeface="Times New Roman" panose="02020603050405020304" pitchFamily="18" charset="0"/>
                    <a:cs typeface="Times New Roman" panose="02020603050405020304" pitchFamily="18" charset="0"/>
                  </a:rPr>
                  <a:t>given input features (x) </a:t>
                </a:r>
                <a:r>
                  <a:rPr lang="en-US" sz="1500" dirty="0">
                    <a:latin typeface="Times New Roman" panose="02020603050405020304" pitchFamily="18" charset="0"/>
                    <a:cs typeface="Times New Roman" panose="02020603050405020304" pitchFamily="18" charset="0"/>
                  </a:rPr>
                  <a:t>The function transforms any real-valued input z (a linear combination of features) into a probability between 0 and 1. </a:t>
                </a:r>
                <a:endParaRPr lang="en-US" altLang="en-US" sz="1500" dirty="0">
                  <a:latin typeface="Times New Roman" panose="02020603050405020304" pitchFamily="18" charset="0"/>
                  <a:cs typeface="Times New Roman" panose="02020603050405020304" pitchFamily="18" charset="0"/>
                </a:endParaRPr>
              </a:p>
              <a:p>
                <a:pPr marL="425450" indent="-342900" algn="just">
                  <a:lnSpc>
                    <a:spcPct val="150000"/>
                  </a:lnSpc>
                  <a:buFont typeface="+mj-lt"/>
                  <a:buAutoNum type="arabicPeriod"/>
                </a:pPr>
                <a:endParaRPr lang="en-US" alt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SzTx/>
                  <a:buFont typeface="Wingdings" panose="05000000000000000000" pitchFamily="2" charset="2"/>
                  <a:buChar char="v"/>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8" name="Rectangle 2"/>
              <p:cNvSpPr>
                <a:spLocks noGrp="1" noRot="1" noChangeAspect="1" noMove="1" noResize="1" noEditPoints="1" noAdjustHandles="1" noChangeArrowheads="1" noChangeShapeType="1" noTextEdit="1"/>
              </p:cNvSpPr>
              <p:nvPr>
                <p:ph sz="half" idx="1"/>
              </p:nvPr>
            </p:nvSpPr>
            <p:spPr bwMode="auto">
              <a:xfrm>
                <a:off x="990600" y="228600"/>
                <a:ext cx="7944485" cy="7467600"/>
              </a:xfrm>
              <a:prstGeom prst="rect">
                <a:avLst/>
              </a:prstGeom>
              <a:blipFill>
                <a:blip r:embed="rId6"/>
                <a:stretch>
                  <a:fillRect r="-2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
        <p:nvSpPr>
          <p:cNvPr id="10" name="Slide Number Placeholder 9"/>
          <p:cNvSpPr>
            <a:spLocks noGrp="1"/>
          </p:cNvSpPr>
          <p:nvPr>
            <p:ph type="sldNum" sz="quarter" idx="12"/>
          </p:nvPr>
        </p:nvSpPr>
        <p:spPr>
          <a:xfrm>
            <a:off x="4745990" y="6305550"/>
            <a:ext cx="4324985" cy="476250"/>
          </a:xfrm>
        </p:spPr>
        <p:txBody>
          <a:bodyPr/>
          <a:lstStyle/>
          <a:p>
            <a:pPr algn="l"/>
            <a:fld id="{348AA8EC-93FC-4A73-8ED3-9C6F6CB809D0}" type="slidenum">
              <a:rPr lang="en-US" smtClean="0"/>
              <a:t>11</a:t>
            </a:fld>
            <a:r>
              <a:rPr lang="en-US" dirty="0"/>
              <a:t>                                                                         </a:t>
            </a:r>
            <a:r>
              <a:rPr lang="en-US" dirty="0">
                <a:sym typeface="+mn-ea"/>
              </a:rPr>
              <a:t>Dept of AIML</a:t>
            </a:r>
            <a:endParaRPr lang="en-US" dirty="0"/>
          </a:p>
        </p:txBody>
      </p:sp>
      <p:pic>
        <p:nvPicPr>
          <p:cNvPr id="4" name="Picture 3">
            <a:extLst>
              <a:ext uri="{FF2B5EF4-FFF2-40B4-BE49-F238E27FC236}">
                <a16:creationId xmlns:a16="http://schemas.microsoft.com/office/drawing/2014/main" id="{3B94D519-CA72-BBD4-6388-80B2B29FE0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24200" y="1905000"/>
            <a:ext cx="2972058" cy="609600"/>
          </a:xfrm>
          <a:prstGeom prst="rect">
            <a:avLst/>
          </a:prstGeom>
        </p:spPr>
      </p:pic>
      <p:pic>
        <p:nvPicPr>
          <p:cNvPr id="21" name="Picture 20">
            <a:extLst>
              <a:ext uri="{FF2B5EF4-FFF2-40B4-BE49-F238E27FC236}">
                <a16:creationId xmlns:a16="http://schemas.microsoft.com/office/drawing/2014/main" id="{97391BA3-E640-AC7E-D6D5-892A4C83E6B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33800" y="4267200"/>
            <a:ext cx="2667000" cy="609600"/>
          </a:xfrm>
          <a:prstGeom prst="rect">
            <a:avLst/>
          </a:prstGeom>
        </p:spPr>
      </p:pic>
      <p:sp>
        <p:nvSpPr>
          <p:cNvPr id="3" name="Footer Placeholder 4">
            <a:extLst>
              <a:ext uri="{FF2B5EF4-FFF2-40B4-BE49-F238E27FC236}">
                <a16:creationId xmlns:a16="http://schemas.microsoft.com/office/drawing/2014/main" id="{2BEF6779-4FE5-EC6F-68E0-0DFCA9AB99D0}"/>
              </a:ext>
            </a:extLst>
          </p:cNvPr>
          <p:cNvSpPr>
            <a:spLocks noGrp="1"/>
          </p:cNvSpPr>
          <p:nvPr>
            <p:ph type="ftr" sz="quarter" idx="11"/>
          </p:nvPr>
        </p:nvSpPr>
        <p:spPr>
          <a:xfrm>
            <a:off x="1042686" y="6400800"/>
            <a:ext cx="2895600" cy="476250"/>
          </a:xfrm>
        </p:spPr>
        <p:txBody>
          <a:bodyPr/>
          <a:lstStyle/>
          <a:p>
            <a:r>
              <a:rPr lang="en-US" dirty="0"/>
              <a:t>PREDICTIVE ANALYTICS ON TWITTER SENTIMENT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44B90FB-41E6-8C62-C934-8ADAF40627C9}"/>
              </a:ext>
            </a:extLst>
          </p:cNvPr>
          <p:cNvSpPr>
            <a:spLocks noGrp="1"/>
          </p:cNvSpPr>
          <p:nvPr>
            <p:ph type="ftr" sz="quarter" idx="11"/>
          </p:nvPr>
        </p:nvSpPr>
        <p:spPr>
          <a:xfrm>
            <a:off x="11430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A8E62648-2F1E-26C7-539D-298043EDC3F5}"/>
              </a:ext>
            </a:extLst>
          </p:cNvPr>
          <p:cNvSpPr>
            <a:spLocks noGrp="1"/>
          </p:cNvSpPr>
          <p:nvPr>
            <p:ph type="sldNum" sz="quarter" idx="12"/>
          </p:nvPr>
        </p:nvSpPr>
        <p:spPr>
          <a:xfrm>
            <a:off x="4876800" y="6248400"/>
            <a:ext cx="457200" cy="476250"/>
          </a:xfrm>
        </p:spPr>
        <p:txBody>
          <a:bodyPr/>
          <a:lstStyle/>
          <a:p>
            <a:fld id="{348AA8EC-93FC-4A73-8ED3-9C6F6CB809D0}" type="slidenum">
              <a:rPr lang="en-US" smtClean="0"/>
              <a:t>12</a:t>
            </a:fld>
            <a:endParaRPr lang="en-US" dirty="0"/>
          </a:p>
        </p:txBody>
      </p:sp>
      <p:pic>
        <p:nvPicPr>
          <p:cNvPr id="7" name="Picture 2" descr="Image result for knsit logo">
            <a:hlinkClick r:id="rId2"/>
            <a:extLst>
              <a:ext uri="{FF2B5EF4-FFF2-40B4-BE49-F238E27FC236}">
                <a16:creationId xmlns:a16="http://schemas.microsoft.com/office/drawing/2014/main" id="{97259E00-DBB7-4A66-25D2-8456C4D4D25E}"/>
              </a:ext>
            </a:extLst>
          </p:cNvPr>
          <p:cNvPicPr>
            <a:picLocks noChangeAspect="1" noChangeArrowheads="1"/>
          </p:cNvPicPr>
          <p:nvPr/>
        </p:nvPicPr>
        <p:blipFill>
          <a:blip r:embed="rId3"/>
          <a:srcRect/>
          <a:stretch>
            <a:fillRect/>
          </a:stretch>
        </p:blipFill>
        <p:spPr bwMode="auto">
          <a:xfrm>
            <a:off x="8077200" y="76200"/>
            <a:ext cx="962025" cy="857251"/>
          </a:xfrm>
          <a:prstGeom prst="rect">
            <a:avLst/>
          </a:prstGeom>
          <a:noFill/>
        </p:spPr>
      </p:pic>
      <p:pic>
        <p:nvPicPr>
          <p:cNvPr id="8" name="Picture 3">
            <a:extLst>
              <a:ext uri="{FF2B5EF4-FFF2-40B4-BE49-F238E27FC236}">
                <a16:creationId xmlns:a16="http://schemas.microsoft.com/office/drawing/2014/main" id="{482743F2-0344-16D9-9CC6-7BA19EA1E3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7620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4188E6A-1DA1-BDDE-DCF1-FA178A7D41EE}"/>
                  </a:ext>
                </a:extLst>
              </p:cNvPr>
              <p:cNvSpPr txBox="1"/>
              <p:nvPr/>
            </p:nvSpPr>
            <p:spPr>
              <a:xfrm>
                <a:off x="1066800" y="914400"/>
                <a:ext cx="7848600" cy="6384761"/>
              </a:xfrm>
              <a:prstGeom prst="rect">
                <a:avLst/>
              </a:prstGeom>
              <a:noFill/>
            </p:spPr>
            <p:txBody>
              <a:bodyPr wrap="square" rtlCol="0">
                <a:spAutoFit/>
              </a:bodyPr>
              <a:lstStyle/>
              <a:p>
                <a:pPr marL="342900" indent="-342900" algn="just">
                  <a:lnSpc>
                    <a:spcPct val="150000"/>
                  </a:lnSpc>
                  <a:buFont typeface="+mj-lt"/>
                  <a:buAutoNum type="arabicPeriod" startAt="3"/>
                </a:pPr>
                <a:r>
                  <a:rPr lang="en-US" sz="1500" b="1" dirty="0">
                    <a:latin typeface="Times New Roman" panose="02020603050405020304" pitchFamily="18" charset="0"/>
                    <a:cs typeface="Times New Roman" panose="02020603050405020304" pitchFamily="18" charset="0"/>
                  </a:rPr>
                  <a:t>Support Vector Machine (SVM)</a:t>
                </a:r>
                <a:r>
                  <a:rPr lang="en-US" sz="1500" dirty="0">
                    <a:latin typeface="Times New Roman" panose="02020603050405020304" pitchFamily="18" charset="0"/>
                    <a:cs typeface="Times New Roman" panose="02020603050405020304" pitchFamily="18" charset="0"/>
                  </a:rPr>
                  <a:t> is a supervised machine learning algorithm used primarily for classification tasks, though it can also handle regression. It works by finding the optimal boundary (hyperplane) that best separates different classes in your data.</a:t>
                </a:r>
              </a:p>
              <a:p>
                <a:pPr algn="just">
                  <a:lnSpc>
                    <a:spcPct val="150000"/>
                  </a:lnSpc>
                </a:pPr>
                <a:endParaRPr lang="en-US" sz="15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First term</a:t>
                </a:r>
                <a14:m>
                  <m:oMath xmlns:m="http://schemas.openxmlformats.org/officeDocument/2006/math">
                    <m:r>
                      <a:rPr lang="en-IN" sz="1500" b="1" i="1" smtClean="0">
                        <a:latin typeface="Cambria Math" panose="02040503050406030204" pitchFamily="18" charset="0"/>
                      </a:rPr>
                      <m:t>(</m:t>
                    </m:r>
                    <m:f>
                      <m:fPr>
                        <m:ctrlPr>
                          <a:rPr lang="en-IN" sz="1500" b="1" i="1" smtClean="0">
                            <a:latin typeface="Cambria Math" panose="02040503050406030204" pitchFamily="18" charset="0"/>
                          </a:rPr>
                        </m:ctrlPr>
                      </m:fPr>
                      <m:num>
                        <m:r>
                          <a:rPr lang="en-IN" sz="1500" b="1" i="1" smtClean="0">
                            <a:latin typeface="Cambria Math" panose="02040503050406030204" pitchFamily="18" charset="0"/>
                          </a:rPr>
                          <m:t>𝟏</m:t>
                        </m:r>
                      </m:num>
                      <m:den>
                        <m:r>
                          <a:rPr lang="en-IN" sz="1500" b="1" i="1" smtClean="0">
                            <a:latin typeface="Cambria Math" panose="02040503050406030204" pitchFamily="18" charset="0"/>
                          </a:rPr>
                          <m:t>𝟐</m:t>
                        </m:r>
                      </m:den>
                    </m:f>
                    <m:r>
                      <a:rPr lang="en-IN" sz="1500" b="1" i="1" smtClean="0">
                        <a:latin typeface="Cambria Math" panose="02040503050406030204" pitchFamily="18" charset="0"/>
                      </a:rPr>
                      <m:t>|</m:t>
                    </m:r>
                    <m:d>
                      <m:dPr>
                        <m:begChr m:val="|"/>
                        <m:endChr m:val="|"/>
                        <m:ctrlPr>
                          <a:rPr lang="en-IN" sz="1500" b="1" i="1" smtClean="0">
                            <a:latin typeface="Cambria Math" panose="02040503050406030204" pitchFamily="18" charset="0"/>
                          </a:rPr>
                        </m:ctrlPr>
                      </m:dPr>
                      <m:e>
                        <m:r>
                          <a:rPr lang="en-IN" sz="1500" b="1" i="1" smtClean="0">
                            <a:latin typeface="Cambria Math" panose="02040503050406030204" pitchFamily="18" charset="0"/>
                          </a:rPr>
                          <m:t>𝒘</m:t>
                        </m:r>
                      </m:e>
                    </m:d>
                    <m:sSup>
                      <m:sSupPr>
                        <m:ctrlPr>
                          <a:rPr lang="en-IN" sz="1500" b="1" i="1" smtClean="0">
                            <a:latin typeface="Cambria Math" panose="02040503050406030204" pitchFamily="18" charset="0"/>
                          </a:rPr>
                        </m:ctrlPr>
                      </m:sSupPr>
                      <m:e>
                        <m:r>
                          <a:rPr lang="en-IN" sz="1500" b="1" i="1" smtClean="0">
                            <a:latin typeface="Cambria Math" panose="02040503050406030204" pitchFamily="18" charset="0"/>
                          </a:rPr>
                          <m:t>|</m:t>
                        </m:r>
                      </m:e>
                      <m:sup>
                        <m:r>
                          <a:rPr lang="en-IN" sz="1500" b="1" i="1" smtClean="0">
                            <a:latin typeface="Cambria Math" panose="02040503050406030204" pitchFamily="18" charset="0"/>
                          </a:rPr>
                          <m:t>𝟐</m:t>
                        </m:r>
                      </m:sup>
                    </m:sSup>
                  </m:oMath>
                </a14:m>
                <a:r>
                  <a:rPr lang="en-US" sz="1500" b="1"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Maximizes the margin by minimizing the weight vector's magnitude, creating the widest possible separation between classes.</a:t>
                </a:r>
              </a:p>
              <a:p>
                <a:pPr marL="285750" indent="-285750" algn="just">
                  <a:lnSpc>
                    <a:spcPct val="150000"/>
                  </a:lnSpc>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Second term(C</a:t>
                </a:r>
                <a14:m>
                  <m:oMath xmlns:m="http://schemas.openxmlformats.org/officeDocument/2006/math">
                    <m:nary>
                      <m:naryPr>
                        <m:chr m:val="∑"/>
                        <m:subHide m:val="on"/>
                        <m:supHide m:val="on"/>
                        <m:ctrlPr>
                          <a:rPr lang="en-IN" sz="1500" b="1" i="1" smtClean="0">
                            <a:latin typeface="Cambria Math" panose="02040503050406030204" pitchFamily="18" charset="0"/>
                          </a:rPr>
                        </m:ctrlPr>
                      </m:naryPr>
                      <m:sub/>
                      <m:sup/>
                      <m:e>
                        <m:sSub>
                          <m:sSubPr>
                            <m:ctrlPr>
                              <a:rPr lang="en-IN" sz="1500" b="1" i="1" smtClean="0">
                                <a:latin typeface="Cambria Math" panose="02040503050406030204" pitchFamily="18" charset="0"/>
                              </a:rPr>
                            </m:ctrlPr>
                          </m:sSubPr>
                          <m:e>
                            <m:r>
                              <a:rPr lang="en-IN" sz="1500" b="1" i="1" smtClean="0">
                                <a:latin typeface="Cambria Math" panose="02040503050406030204" pitchFamily="18" charset="0"/>
                                <a:ea typeface="Cambria Math" panose="02040503050406030204" pitchFamily="18" charset="0"/>
                              </a:rPr>
                              <m:t>𝝃</m:t>
                            </m:r>
                          </m:e>
                          <m:sub>
                            <m:r>
                              <a:rPr lang="en-IN" sz="1500" b="1" i="1" smtClean="0">
                                <a:latin typeface="Cambria Math" panose="02040503050406030204" pitchFamily="18" charset="0"/>
                              </a:rPr>
                              <m:t>𝒊</m:t>
                            </m:r>
                          </m:sub>
                        </m:sSub>
                      </m:e>
                    </m:nary>
                  </m:oMath>
                </a14:m>
                <a:r>
                  <a:rPr lang="en-US" sz="1500" b="1"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Penalizes misclassifications and margin violations (slack variables ξᵢ), where C controls the trade-off between margin width and classification errors.</a:t>
                </a:r>
              </a:p>
              <a:p>
                <a:pPr marL="285750" indent="-285750" algn="just">
                  <a:lnSpc>
                    <a:spcPct val="150000"/>
                  </a:lnSpc>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Goal</a:t>
                </a:r>
                <a:r>
                  <a:rPr lang="en-US" sz="1500" dirty="0">
                    <a:latin typeface="Times New Roman" panose="02020603050405020304" pitchFamily="18" charset="0"/>
                    <a:cs typeface="Times New Roman" panose="02020603050405020304" pitchFamily="18" charset="0"/>
                  </a:rPr>
                  <a:t>: Find the balance between a wide margin (generalization) and correctly classifying training points (accuracy).</a:t>
                </a:r>
              </a:p>
              <a:p>
                <a:pPr marL="342900" indent="-342900" algn="just">
                  <a:lnSpc>
                    <a:spcPct val="150000"/>
                  </a:lnSpc>
                  <a:buFont typeface="+mj-lt"/>
                  <a:buAutoNum type="arabicPeriod" startAt="4"/>
                </a:pPr>
                <a:r>
                  <a:rPr lang="en-US" sz="1500" b="1" dirty="0" err="1">
                    <a:latin typeface="Times New Roman" panose="02020603050405020304" pitchFamily="18" charset="0"/>
                    <a:cs typeface="Times New Roman" panose="02020603050405020304" pitchFamily="18" charset="0"/>
                  </a:rPr>
                  <a:t>XGBoost</a:t>
                </a:r>
                <a:r>
                  <a:rPr lang="en-US" sz="1500" b="1" dirty="0">
                    <a:latin typeface="Times New Roman" panose="02020603050405020304" pitchFamily="18" charset="0"/>
                    <a:cs typeface="Times New Roman" panose="02020603050405020304" pitchFamily="18" charset="0"/>
                  </a:rPr>
                  <a:t> (Extreme Gradient Boosting)</a:t>
                </a:r>
                <a:r>
                  <a:rPr lang="en-US" sz="1500" dirty="0">
                    <a:latin typeface="Times New Roman" panose="02020603050405020304" pitchFamily="18" charset="0"/>
                    <a:cs typeface="Times New Roman" panose="02020603050405020304" pitchFamily="18" charset="0"/>
                  </a:rPr>
                  <a:t> is a powerful ensemble learning algorithm that builds multiple decision trees sequentially, where each new tree corrects errors made by previous trees. It's widely used for structured/tabular data and dominates machine learning competitions.</a:t>
                </a:r>
              </a:p>
              <a:p>
                <a:pPr algn="just">
                  <a:lnSpc>
                    <a:spcPct val="150000"/>
                  </a:lnSpc>
                </a:pPr>
                <a:endParaRPr lang="en-US" sz="1500" dirty="0">
                  <a:latin typeface="Times New Roman" panose="02020603050405020304" pitchFamily="18" charset="0"/>
                  <a:cs typeface="Times New Roman" panose="02020603050405020304" pitchFamily="18" charset="0"/>
                </a:endParaRPr>
              </a:p>
              <a:p>
                <a:pPr algn="just">
                  <a:lnSpc>
                    <a:spcPct val="150000"/>
                  </a:lnSpc>
                </a:pPr>
                <a:endParaRPr lang="en-US" sz="1500" dirty="0">
                  <a:latin typeface="Times New Roman" panose="02020603050405020304" pitchFamily="18" charset="0"/>
                  <a:cs typeface="Times New Roman" panose="02020603050405020304" pitchFamily="18" charset="0"/>
                </a:endParaRPr>
              </a:p>
              <a:p>
                <a:pPr algn="just">
                  <a:lnSpc>
                    <a:spcPct val="150000"/>
                  </a:lnSpc>
                </a:pPr>
                <a:endParaRPr lang="en-US" sz="1500" dirty="0">
                  <a:latin typeface="Times New Roman" panose="02020603050405020304" pitchFamily="18" charset="0"/>
                  <a:cs typeface="Times New Roman" panose="02020603050405020304" pitchFamily="18" charset="0"/>
                </a:endParaRPr>
              </a:p>
              <a:p>
                <a:pPr algn="just">
                  <a:lnSpc>
                    <a:spcPct val="150000"/>
                  </a:lnSpc>
                </a:pPr>
                <a:endParaRPr lang="en-US" sz="1500" dirty="0">
                  <a:latin typeface="Times New Roman" panose="02020603050405020304" pitchFamily="18" charset="0"/>
                  <a:cs typeface="Times New Roman" panose="02020603050405020304" pitchFamily="18" charset="0"/>
                </a:endParaRPr>
              </a:p>
              <a:p>
                <a:pPr algn="just"/>
                <a:endParaRPr lang="en-IN" sz="150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F4188E6A-1DA1-BDDE-DCF1-FA178A7D41EE}"/>
                  </a:ext>
                </a:extLst>
              </p:cNvPr>
              <p:cNvSpPr txBox="1">
                <a:spLocks noRot="1" noChangeAspect="1" noMove="1" noResize="1" noEditPoints="1" noAdjustHandles="1" noChangeArrowheads="1" noChangeShapeType="1" noTextEdit="1"/>
              </p:cNvSpPr>
              <p:nvPr/>
            </p:nvSpPr>
            <p:spPr>
              <a:xfrm>
                <a:off x="1066800" y="914400"/>
                <a:ext cx="7848600" cy="6384761"/>
              </a:xfrm>
              <a:prstGeom prst="rect">
                <a:avLst/>
              </a:prstGeom>
              <a:blipFill>
                <a:blip r:embed="rId5"/>
                <a:stretch>
                  <a:fillRect l="-233" r="-233"/>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C1228876-36CC-EFE6-FC7C-DF0BE133C4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0000" y="1905000"/>
            <a:ext cx="2255715" cy="647756"/>
          </a:xfrm>
          <a:prstGeom prst="rect">
            <a:avLst/>
          </a:prstGeom>
        </p:spPr>
      </p:pic>
      <p:sp>
        <p:nvSpPr>
          <p:cNvPr id="2" name="Slide Number Placeholder 5">
            <a:extLst>
              <a:ext uri="{FF2B5EF4-FFF2-40B4-BE49-F238E27FC236}">
                <a16:creationId xmlns:a16="http://schemas.microsoft.com/office/drawing/2014/main" id="{98617F79-0F32-3A1A-4B3E-EE48FF4BCBF6}"/>
              </a:ext>
            </a:extLst>
          </p:cNvPr>
          <p:cNvSpPr txBox="1">
            <a:spLocks/>
          </p:cNvSpPr>
          <p:nvPr/>
        </p:nvSpPr>
        <p:spPr>
          <a:xfrm>
            <a:off x="7620000" y="6248400"/>
            <a:ext cx="1066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4" name="Picture 3">
            <a:extLst>
              <a:ext uri="{FF2B5EF4-FFF2-40B4-BE49-F238E27FC236}">
                <a16:creationId xmlns:a16="http://schemas.microsoft.com/office/drawing/2014/main" id="{39497F4F-BD97-9F10-8AD1-3EA3746BC9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57600" y="5562600"/>
            <a:ext cx="3352800" cy="762000"/>
          </a:xfrm>
          <a:prstGeom prst="rect">
            <a:avLst/>
          </a:prstGeom>
        </p:spPr>
      </p:pic>
    </p:spTree>
    <p:extLst>
      <p:ext uri="{BB962C8B-B14F-4D97-AF65-F5344CB8AC3E}">
        <p14:creationId xmlns:p14="http://schemas.microsoft.com/office/powerpoint/2010/main" val="3309168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11902D7-EA6C-F76C-124C-E30694260F77}"/>
              </a:ext>
            </a:extLst>
          </p:cNvPr>
          <p:cNvSpPr>
            <a:spLocks noGrp="1"/>
          </p:cNvSpPr>
          <p:nvPr>
            <p:ph type="ftr" sz="quarter" idx="11"/>
          </p:nvPr>
        </p:nvSpPr>
        <p:spPr>
          <a:xfrm>
            <a:off x="1066800" y="63817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F305CD01-2B86-6013-460B-93D2EB8F60E0}"/>
              </a:ext>
            </a:extLst>
          </p:cNvPr>
          <p:cNvSpPr>
            <a:spLocks noGrp="1"/>
          </p:cNvSpPr>
          <p:nvPr>
            <p:ph type="sldNum" sz="quarter" idx="12"/>
          </p:nvPr>
        </p:nvSpPr>
        <p:spPr>
          <a:xfrm>
            <a:off x="4876800" y="6352253"/>
            <a:ext cx="457200" cy="476250"/>
          </a:xfrm>
        </p:spPr>
        <p:txBody>
          <a:bodyPr/>
          <a:lstStyle/>
          <a:p>
            <a:fld id="{348AA8EC-93FC-4A73-8ED3-9C6F6CB809D0}" type="slidenum">
              <a:rPr lang="en-US" smtClean="0"/>
              <a:t>13</a:t>
            </a:fld>
            <a:endParaRPr lang="en-US" dirty="0"/>
          </a:p>
        </p:txBody>
      </p:sp>
      <p:pic>
        <p:nvPicPr>
          <p:cNvPr id="7" name="Picture 3">
            <a:extLst>
              <a:ext uri="{FF2B5EF4-FFF2-40B4-BE49-F238E27FC236}">
                <a16:creationId xmlns:a16="http://schemas.microsoft.com/office/drawing/2014/main" id="{A76443C6-188B-0F60-C9F6-9644AEE2C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7620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CB7A5B40-3769-7A83-2A9E-2868EC3CC6A9}"/>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10" name="Slide Number Placeholder 5">
            <a:extLst>
              <a:ext uri="{FF2B5EF4-FFF2-40B4-BE49-F238E27FC236}">
                <a16:creationId xmlns:a16="http://schemas.microsoft.com/office/drawing/2014/main" id="{EAB5954D-9110-708A-D87F-02C9E53ED080}"/>
              </a:ext>
            </a:extLst>
          </p:cNvPr>
          <p:cNvSpPr txBox="1">
            <a:spLocks/>
          </p:cNvSpPr>
          <p:nvPr/>
        </p:nvSpPr>
        <p:spPr>
          <a:xfrm>
            <a:off x="7848600" y="6248400"/>
            <a:ext cx="1066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4DBB04-69AC-EDD3-D329-E54F4C2E6F92}"/>
                  </a:ext>
                </a:extLst>
              </p:cNvPr>
              <p:cNvSpPr txBox="1"/>
              <p:nvPr/>
            </p:nvSpPr>
            <p:spPr>
              <a:xfrm>
                <a:off x="1219200" y="990600"/>
                <a:ext cx="7696200" cy="542719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First term (Loss)</a:t>
                </a:r>
                <a:r>
                  <a:rPr lang="en-US" sz="1500" dirty="0">
                    <a:latin typeface="Times New Roman" panose="02020603050405020304" pitchFamily="18" charset="0"/>
                    <a:cs typeface="Times New Roman" panose="02020603050405020304" pitchFamily="18" charset="0"/>
                  </a:rPr>
                  <a:t>: Measures how well the model (previous predictions + new tree) fits the actual labels yᵢ</a:t>
                </a:r>
              </a:p>
              <a:p>
                <a:pPr marL="285750" indent="-285750" algn="just">
                  <a:lnSpc>
                    <a:spcPct val="150000"/>
                  </a:lnSpc>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Second term (Regularization </a:t>
                </a:r>
                <a:r>
                  <a:rPr lang="el-GR" sz="1500" b="1" dirty="0">
                    <a:latin typeface="Times New Roman" panose="02020603050405020304" pitchFamily="18" charset="0"/>
                    <a:cs typeface="Times New Roman" panose="02020603050405020304" pitchFamily="18" charset="0"/>
                  </a:rPr>
                  <a:t>Ω</a:t>
                </a:r>
                <a:r>
                  <a:rPr lang="en-IN" sz="1500" b="1"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Penalizes complex trees to prevent overfitting by controlling tree depth and leaf weights</a:t>
                </a:r>
              </a:p>
              <a:p>
                <a:pPr marL="285750" indent="-285750" algn="just">
                  <a:lnSpc>
                    <a:spcPct val="150000"/>
                  </a:lnSpc>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Goal</a:t>
                </a:r>
                <a:r>
                  <a:rPr lang="en-US" sz="1500" dirty="0">
                    <a:latin typeface="Times New Roman" panose="02020603050405020304" pitchFamily="18" charset="0"/>
                    <a:cs typeface="Times New Roman" panose="02020603050405020304" pitchFamily="18" charset="0"/>
                  </a:rPr>
                  <a:t>: At each iteration t, add a new tree fₜ that minimizes total loss while keeping the model simple</a:t>
                </a:r>
              </a:p>
              <a:p>
                <a:pPr marL="342900" indent="-342900" algn="just">
                  <a:lnSpc>
                    <a:spcPct val="150000"/>
                  </a:lnSpc>
                  <a:buFont typeface="+mj-lt"/>
                  <a:buAutoNum type="arabicPeriod" startAt="5"/>
                </a:pPr>
                <a:r>
                  <a:rPr lang="en-US" sz="1600" b="1" dirty="0">
                    <a:latin typeface="Times New Roman" panose="02020603050405020304" pitchFamily="18" charset="0"/>
                    <a:cs typeface="Times New Roman" panose="02020603050405020304" pitchFamily="18" charset="0"/>
                  </a:rPr>
                  <a:t>Gradient Boosting</a:t>
                </a:r>
                <a:r>
                  <a:rPr lang="en-US" sz="1600" dirty="0">
                    <a:latin typeface="Times New Roman" panose="02020603050405020304" pitchFamily="18" charset="0"/>
                    <a:cs typeface="Times New Roman" panose="02020603050405020304" pitchFamily="18" charset="0"/>
                  </a:rPr>
                  <a:t> is an ensemble technique that builds models sequentially, where each new model corrects the errors (residuals) of the previous ones by following the negative gradient of the loss function.</a:t>
                </a:r>
              </a:p>
              <a:p>
                <a:pPr algn="just">
                  <a:lnSpc>
                    <a:spcPct val="150000"/>
                  </a:lnSpc>
                </a:pPr>
                <a:endParaRPr lang="en-US" sz="1500" dirty="0">
                  <a:latin typeface="Times New Roman" panose="02020603050405020304" pitchFamily="18" charset="0"/>
                  <a:cs typeface="Times New Roman" panose="02020603050405020304" pitchFamily="18" charset="0"/>
                </a:endParaRPr>
              </a:p>
              <a:p>
                <a:pPr algn="just">
                  <a:lnSpc>
                    <a:spcPct val="150000"/>
                  </a:lnSpc>
                </a:pPr>
                <a14:m>
                  <m:oMath xmlns:m="http://schemas.openxmlformats.org/officeDocument/2006/math">
                    <m:sSub>
                      <m:sSubPr>
                        <m:ctrlPr>
                          <a:rPr lang="en-US" sz="1500" b="1" i="1" smtClean="0">
                            <a:latin typeface="Cambria Math" panose="02040503050406030204" pitchFamily="18" charset="0"/>
                            <a:cs typeface="Times New Roman" panose="02020603050405020304" pitchFamily="18" charset="0"/>
                          </a:rPr>
                        </m:ctrlPr>
                      </m:sSubPr>
                      <m:e>
                        <m:r>
                          <a:rPr lang="en-IN" sz="1500" b="1" i="1" smtClean="0">
                            <a:latin typeface="Cambria Math" panose="02040503050406030204" pitchFamily="18" charset="0"/>
                            <a:cs typeface="Times New Roman" panose="02020603050405020304" pitchFamily="18" charset="0"/>
                          </a:rPr>
                          <m:t>𝒇</m:t>
                        </m:r>
                      </m:e>
                      <m:sub>
                        <m:r>
                          <a:rPr lang="en-IN" sz="1500" b="1" i="1" smtClean="0">
                            <a:latin typeface="Cambria Math" panose="02040503050406030204" pitchFamily="18" charset="0"/>
                            <a:cs typeface="Times New Roman" panose="02020603050405020304" pitchFamily="18" charset="0"/>
                          </a:rPr>
                          <m:t>𝒎</m:t>
                        </m:r>
                      </m:sub>
                    </m:sSub>
                    <m:d>
                      <m:dPr>
                        <m:ctrlPr>
                          <a:rPr lang="en-IN" sz="1500" b="1" i="1" smtClean="0">
                            <a:latin typeface="Cambria Math" panose="02040503050406030204" pitchFamily="18" charset="0"/>
                            <a:cs typeface="Times New Roman" panose="02020603050405020304" pitchFamily="18" charset="0"/>
                          </a:rPr>
                        </m:ctrlPr>
                      </m:dPr>
                      <m:e>
                        <m:r>
                          <a:rPr lang="en-IN" sz="1500" b="1" i="1" smtClean="0">
                            <a:latin typeface="Cambria Math" panose="02040503050406030204" pitchFamily="18" charset="0"/>
                            <a:cs typeface="Times New Roman" panose="02020603050405020304" pitchFamily="18" charset="0"/>
                          </a:rPr>
                          <m:t>𝒙</m:t>
                        </m:r>
                      </m:e>
                    </m:d>
                  </m:oMath>
                </a14:m>
                <a:r>
                  <a:rPr lang="en-US" sz="1500" b="1"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The current model's prediction at iteration m</a:t>
                </a:r>
              </a:p>
              <a:p>
                <a:pPr algn="just">
                  <a:lnSpc>
                    <a:spcPct val="150000"/>
                  </a:lnSpc>
                </a:pPr>
                <a14:m>
                  <m:oMathPara xmlns:m="http://schemas.openxmlformats.org/officeDocument/2006/math">
                    <m:oMathParaPr>
                      <m:jc m:val="left"/>
                    </m:oMathParaPr>
                    <m:oMath xmlns:m="http://schemas.openxmlformats.org/officeDocument/2006/math">
                      <m:sSub>
                        <m:sSubPr>
                          <m:ctrlPr>
                            <a:rPr lang="en-US" sz="1500" b="1" i="1" smtClean="0">
                              <a:latin typeface="Cambria Math" panose="02040503050406030204" pitchFamily="18" charset="0"/>
                              <a:cs typeface="Times New Roman" panose="02020603050405020304" pitchFamily="18" charset="0"/>
                            </a:rPr>
                          </m:ctrlPr>
                        </m:sSubPr>
                        <m:e>
                          <m:r>
                            <a:rPr lang="en-IN" sz="1500" b="1" i="1" smtClean="0">
                              <a:latin typeface="Cambria Math" panose="02040503050406030204" pitchFamily="18" charset="0"/>
                              <a:cs typeface="Times New Roman" panose="02020603050405020304" pitchFamily="18" charset="0"/>
                            </a:rPr>
                            <m:t>𝒇</m:t>
                          </m:r>
                        </m:e>
                        <m:sub>
                          <m:r>
                            <a:rPr lang="en-IN" sz="1500" b="1" i="1" smtClean="0">
                              <a:latin typeface="Cambria Math" panose="02040503050406030204" pitchFamily="18" charset="0"/>
                              <a:cs typeface="Times New Roman" panose="02020603050405020304" pitchFamily="18" charset="0"/>
                            </a:rPr>
                            <m:t>𝒎</m:t>
                          </m:r>
                          <m:r>
                            <a:rPr lang="en-IN" sz="1500" b="1" i="1" smtClean="0">
                              <a:latin typeface="Cambria Math" panose="02040503050406030204" pitchFamily="18" charset="0"/>
                              <a:cs typeface="Times New Roman" panose="02020603050405020304" pitchFamily="18" charset="0"/>
                            </a:rPr>
                            <m:t>−</m:t>
                          </m:r>
                          <m:r>
                            <a:rPr lang="en-IN" sz="1500" b="1" i="1" smtClean="0">
                              <a:latin typeface="Cambria Math" panose="02040503050406030204" pitchFamily="18" charset="0"/>
                              <a:cs typeface="Times New Roman" panose="02020603050405020304" pitchFamily="18" charset="0"/>
                            </a:rPr>
                            <m:t>𝟏</m:t>
                          </m:r>
                        </m:sub>
                      </m:sSub>
                      <m:r>
                        <a:rPr lang="en-IN" sz="1500" b="1" i="1" smtClean="0">
                          <a:latin typeface="Cambria Math" panose="02040503050406030204" pitchFamily="18" charset="0"/>
                          <a:cs typeface="Times New Roman" panose="02020603050405020304" pitchFamily="18" charset="0"/>
                        </a:rPr>
                        <m:t>:</m:t>
                      </m:r>
                      <m:r>
                        <m:rPr>
                          <m:nor/>
                        </m:rPr>
                        <a:rPr lang="en-US" sz="1500">
                          <a:latin typeface="Times New Roman" panose="02020603050405020304" pitchFamily="18" charset="0"/>
                          <a:cs typeface="Times New Roman" panose="02020603050405020304" pitchFamily="18" charset="0"/>
                        </a:rPr>
                        <m:t>Predictions</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from</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all</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previous</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models</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combined</m:t>
                      </m:r>
                    </m:oMath>
                  </m:oMathPara>
                </a14:m>
                <a:endParaRPr lang="en-IN" sz="1500" dirty="0">
                  <a:latin typeface="Times New Roman" panose="02020603050405020304" pitchFamily="18" charset="0"/>
                  <a:cs typeface="Times New Roman" panose="02020603050405020304" pitchFamily="18" charset="0"/>
                </a:endParaRPr>
              </a:p>
              <a:p>
                <a:pPr algn="just">
                  <a:lnSpc>
                    <a:spcPct val="150000"/>
                  </a:lnSpc>
                </a:pPr>
                <a14:m>
                  <m:oMathPara xmlns:m="http://schemas.openxmlformats.org/officeDocument/2006/math">
                    <m:oMathParaPr>
                      <m:jc m:val="left"/>
                    </m:oMathParaPr>
                    <m:oMath xmlns:m="http://schemas.openxmlformats.org/officeDocument/2006/math">
                      <m:sSub>
                        <m:sSubPr>
                          <m:ctrlPr>
                            <a:rPr lang="en-US" sz="1500" b="1" i="1" smtClean="0">
                              <a:latin typeface="Cambria Math" panose="02040503050406030204" pitchFamily="18" charset="0"/>
                              <a:cs typeface="Times New Roman" panose="02020603050405020304" pitchFamily="18" charset="0"/>
                            </a:rPr>
                          </m:ctrlPr>
                        </m:sSubPr>
                        <m:e>
                          <m:r>
                            <a:rPr lang="en-IN" sz="1500" b="1" i="1" smtClean="0">
                              <a:latin typeface="Cambria Math" panose="02040503050406030204" pitchFamily="18" charset="0"/>
                              <a:cs typeface="Times New Roman" panose="02020603050405020304" pitchFamily="18" charset="0"/>
                            </a:rPr>
                            <m:t>𝒉</m:t>
                          </m:r>
                        </m:e>
                        <m:sub>
                          <m:r>
                            <a:rPr lang="en-IN" sz="1500" b="1" i="1" smtClean="0">
                              <a:latin typeface="Cambria Math" panose="02040503050406030204" pitchFamily="18" charset="0"/>
                              <a:cs typeface="Times New Roman" panose="02020603050405020304" pitchFamily="18" charset="0"/>
                            </a:rPr>
                            <m:t>𝒎</m:t>
                          </m:r>
                        </m:sub>
                      </m:sSub>
                      <m:d>
                        <m:dPr>
                          <m:ctrlPr>
                            <a:rPr lang="en-IN" sz="1500" b="1" i="1" smtClean="0">
                              <a:latin typeface="Cambria Math" panose="02040503050406030204" pitchFamily="18" charset="0"/>
                              <a:cs typeface="Times New Roman" panose="02020603050405020304" pitchFamily="18" charset="0"/>
                            </a:rPr>
                          </m:ctrlPr>
                        </m:dPr>
                        <m:e>
                          <m:r>
                            <a:rPr lang="en-IN" sz="1500" b="1" i="1" smtClean="0">
                              <a:latin typeface="Cambria Math" panose="02040503050406030204" pitchFamily="18" charset="0"/>
                              <a:cs typeface="Times New Roman" panose="02020603050405020304" pitchFamily="18" charset="0"/>
                            </a:rPr>
                            <m:t>𝒙</m:t>
                          </m:r>
                        </m:e>
                      </m:d>
                      <m:r>
                        <a:rPr lang="en-IN" sz="1500" b="1" i="1" smtClean="0">
                          <a:latin typeface="Cambria Math" panose="02040503050406030204" pitchFamily="18" charset="0"/>
                          <a:cs typeface="Times New Roman" panose="02020603050405020304" pitchFamily="18" charset="0"/>
                        </a:rPr>
                        <m:t>:</m:t>
                      </m:r>
                      <m:r>
                        <m:rPr>
                          <m:nor/>
                        </m:rPr>
                        <a:rPr lang="en-US" sz="1500">
                          <a:latin typeface="Times New Roman" panose="02020603050405020304" pitchFamily="18" charset="0"/>
                          <a:cs typeface="Times New Roman" panose="02020603050405020304" pitchFamily="18" charset="0"/>
                        </a:rPr>
                        <m:t>New</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weak</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learner</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tree</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trained</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on</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current</m:t>
                      </m:r>
                      <m:r>
                        <m:rPr>
                          <m:nor/>
                        </m:rPr>
                        <a:rPr lang="en-US" sz="1500">
                          <a:latin typeface="Times New Roman" panose="02020603050405020304" pitchFamily="18" charset="0"/>
                          <a:cs typeface="Times New Roman" panose="02020603050405020304" pitchFamily="18" charset="0"/>
                        </a:rPr>
                        <m:t> </m:t>
                      </m:r>
                      <m:r>
                        <m:rPr>
                          <m:nor/>
                        </m:rPr>
                        <a:rPr lang="en-US" sz="1500">
                          <a:latin typeface="Times New Roman" panose="02020603050405020304" pitchFamily="18" charset="0"/>
                          <a:cs typeface="Times New Roman" panose="02020603050405020304" pitchFamily="18" charset="0"/>
                        </a:rPr>
                        <m:t>residuals</m:t>
                      </m:r>
                    </m:oMath>
                  </m:oMathPara>
                </a14:m>
                <a:endParaRPr lang="en-IN" sz="1500" dirty="0">
                  <a:latin typeface="Times New Roman" panose="02020603050405020304" pitchFamily="18" charset="0"/>
                  <a:cs typeface="Times New Roman" panose="02020603050405020304" pitchFamily="18" charset="0"/>
                </a:endParaRPr>
              </a:p>
              <a:p>
                <a:pPr algn="just">
                  <a:lnSpc>
                    <a:spcPct val="150000"/>
                  </a:lnSpc>
                </a:pPr>
                <a:r>
                  <a:rPr lang="en-US" sz="1500" b="1" dirty="0">
                    <a:latin typeface="Times New Roman" panose="02020603050405020304" pitchFamily="18" charset="0"/>
                    <a:cs typeface="Times New Roman" panose="02020603050405020304" pitchFamily="18" charset="0"/>
                  </a:rPr>
                  <a:t>v (learning rate)</a:t>
                </a:r>
                <a:r>
                  <a:rPr lang="en-US" sz="1500" dirty="0">
                    <a:latin typeface="Times New Roman" panose="02020603050405020304" pitchFamily="18" charset="0"/>
                    <a:cs typeface="Times New Roman" panose="02020603050405020304" pitchFamily="18" charset="0"/>
                  </a:rPr>
                  <a:t>: Shrinkage parameter that controls how much each tree contributes; smaller values mean slower learning but better generalization</a:t>
                </a:r>
              </a:p>
            </p:txBody>
          </p:sp>
        </mc:Choice>
        <mc:Fallback xmlns="">
          <p:sp>
            <p:nvSpPr>
              <p:cNvPr id="12" name="TextBox 11">
                <a:extLst>
                  <a:ext uri="{FF2B5EF4-FFF2-40B4-BE49-F238E27FC236}">
                    <a16:creationId xmlns:a16="http://schemas.microsoft.com/office/drawing/2014/main" id="{B04DBB04-69AC-EDD3-D329-E54F4C2E6F92}"/>
                  </a:ext>
                </a:extLst>
              </p:cNvPr>
              <p:cNvSpPr txBox="1">
                <a:spLocks noRot="1" noChangeAspect="1" noMove="1" noResize="1" noEditPoints="1" noAdjustHandles="1" noChangeArrowheads="1" noChangeShapeType="1" noTextEdit="1"/>
              </p:cNvSpPr>
              <p:nvPr/>
            </p:nvSpPr>
            <p:spPr>
              <a:xfrm>
                <a:off x="1219200" y="990600"/>
                <a:ext cx="7696200" cy="5427191"/>
              </a:xfrm>
              <a:prstGeom prst="rect">
                <a:avLst/>
              </a:prstGeom>
              <a:blipFill>
                <a:blip r:embed="rId5"/>
                <a:stretch>
                  <a:fillRect l="-317" r="-317"/>
                </a:stretch>
              </a:blipFill>
            </p:spPr>
            <p:txBody>
              <a:bodyPr/>
              <a:lstStyle/>
              <a:p>
                <a:r>
                  <a:rPr lang="en-IN">
                    <a:noFill/>
                  </a:rPr>
                  <a:t> </a:t>
                </a:r>
              </a:p>
            </p:txBody>
          </p:sp>
        </mc:Fallback>
      </mc:AlternateContent>
      <p:pic>
        <p:nvPicPr>
          <p:cNvPr id="16" name="Picture 15">
            <a:extLst>
              <a:ext uri="{FF2B5EF4-FFF2-40B4-BE49-F238E27FC236}">
                <a16:creationId xmlns:a16="http://schemas.microsoft.com/office/drawing/2014/main" id="{06EA048B-1B34-6AB6-E03D-8425B580AA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05200" y="4114800"/>
            <a:ext cx="2560489" cy="545306"/>
          </a:xfrm>
          <a:prstGeom prst="rect">
            <a:avLst/>
          </a:prstGeom>
        </p:spPr>
      </p:pic>
    </p:spTree>
    <p:extLst>
      <p:ext uri="{BB962C8B-B14F-4D97-AF65-F5344CB8AC3E}">
        <p14:creationId xmlns:p14="http://schemas.microsoft.com/office/powerpoint/2010/main" val="3984432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4B08838-B83A-964D-8F4A-93F22AB9F5B7}"/>
              </a:ext>
            </a:extLst>
          </p:cNvPr>
          <p:cNvSpPr>
            <a:spLocks noGrp="1"/>
          </p:cNvSpPr>
          <p:nvPr>
            <p:ph type="ftr" sz="quarter" idx="11"/>
          </p:nvPr>
        </p:nvSpPr>
        <p:spPr>
          <a:xfrm>
            <a:off x="1025013" y="6305550"/>
            <a:ext cx="2784988" cy="476250"/>
          </a:xfrm>
        </p:spPr>
        <p:txBody>
          <a:bodyPr/>
          <a:lstStyle/>
          <a:p>
            <a:r>
              <a:rPr lang="en-US"/>
              <a:t>PREDICTIVE ANALYTICS ON TWITTER SENTIMENT DATA</a:t>
            </a:r>
          </a:p>
        </p:txBody>
      </p:sp>
      <p:sp>
        <p:nvSpPr>
          <p:cNvPr id="6" name="Slide Number Placeholder 5">
            <a:extLst>
              <a:ext uri="{FF2B5EF4-FFF2-40B4-BE49-F238E27FC236}">
                <a16:creationId xmlns:a16="http://schemas.microsoft.com/office/drawing/2014/main" id="{7714E1F3-B934-0A1E-07A3-5612F17E5484}"/>
              </a:ext>
            </a:extLst>
          </p:cNvPr>
          <p:cNvSpPr>
            <a:spLocks noGrp="1"/>
          </p:cNvSpPr>
          <p:nvPr>
            <p:ph type="sldNum" sz="quarter" idx="12"/>
          </p:nvPr>
        </p:nvSpPr>
        <p:spPr>
          <a:xfrm>
            <a:off x="4724400" y="6352253"/>
            <a:ext cx="457200" cy="476250"/>
          </a:xfrm>
        </p:spPr>
        <p:txBody>
          <a:bodyPr/>
          <a:lstStyle/>
          <a:p>
            <a:fld id="{348AA8EC-93FC-4A73-8ED3-9C6F6CB809D0}" type="slidenum">
              <a:rPr lang="en-US" smtClean="0"/>
              <a:t>14</a:t>
            </a:fld>
            <a:endParaRPr lang="en-US" dirty="0"/>
          </a:p>
        </p:txBody>
      </p:sp>
      <p:pic>
        <p:nvPicPr>
          <p:cNvPr id="7" name="Picture 3">
            <a:extLst>
              <a:ext uri="{FF2B5EF4-FFF2-40B4-BE49-F238E27FC236}">
                <a16:creationId xmlns:a16="http://schemas.microsoft.com/office/drawing/2014/main" id="{73EECA38-EF29-8A32-64B5-46702C4F1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7620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4117A665-ECB5-54FF-CE3C-73218EF1E89A}"/>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9" name="Slide Number Placeholder 5">
            <a:extLst>
              <a:ext uri="{FF2B5EF4-FFF2-40B4-BE49-F238E27FC236}">
                <a16:creationId xmlns:a16="http://schemas.microsoft.com/office/drawing/2014/main" id="{00C8F582-8444-33C9-E5FA-1F944F52DCB9}"/>
              </a:ext>
            </a:extLst>
          </p:cNvPr>
          <p:cNvSpPr txBox="1">
            <a:spLocks/>
          </p:cNvSpPr>
          <p:nvPr/>
        </p:nvSpPr>
        <p:spPr>
          <a:xfrm>
            <a:off x="7696200" y="6324600"/>
            <a:ext cx="12192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C1F0AB9-3DA1-9C67-ACF2-AB0BD88C115C}"/>
                  </a:ext>
                </a:extLst>
              </p:cNvPr>
              <p:cNvSpPr txBox="1"/>
              <p:nvPr/>
            </p:nvSpPr>
            <p:spPr>
              <a:xfrm>
                <a:off x="1066800" y="914400"/>
                <a:ext cx="7772400" cy="6941900"/>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mj-lt"/>
                  <a:buAutoNum type="arabicPeriod" startAt="6"/>
                </a:pPr>
                <a:r>
                  <a:rPr lang="en-US" sz="1400" b="1" dirty="0">
                    <a:latin typeface="Times New Roman" panose="02020603050405020304" pitchFamily="18" charset="0"/>
                    <a:cs typeface="Times New Roman" panose="02020603050405020304" pitchFamily="18" charset="0"/>
                  </a:rPr>
                  <a:t>Naïve Bayes </a:t>
                </a:r>
                <a:r>
                  <a:rPr lang="en-US" sz="1400" dirty="0">
                    <a:latin typeface="Times New Roman" panose="02020603050405020304" pitchFamily="18" charset="0"/>
                    <a:cs typeface="Times New Roman" panose="02020603050405020304" pitchFamily="18" charset="0"/>
                  </a:rPr>
                  <a:t>is a </a:t>
                </a:r>
                <a:r>
                  <a:rPr lang="en-US" sz="1400" b="1" dirty="0">
                    <a:latin typeface="Times New Roman" panose="02020603050405020304" pitchFamily="18" charset="0"/>
                    <a:cs typeface="Times New Roman" panose="02020603050405020304" pitchFamily="18" charset="0"/>
                  </a:rPr>
                  <a:t>probabilistic classifier</a:t>
                </a:r>
                <a:r>
                  <a:rPr lang="en-US" sz="1400" dirty="0">
                    <a:latin typeface="Times New Roman" panose="02020603050405020304" pitchFamily="18" charset="0"/>
                    <a:cs typeface="Times New Roman" panose="02020603050405020304" pitchFamily="18" charset="0"/>
                  </a:rPr>
                  <a:t> based on </a:t>
                </a:r>
                <a:r>
                  <a:rPr lang="en-US" sz="1400" b="1" dirty="0">
                    <a:latin typeface="Times New Roman" panose="02020603050405020304" pitchFamily="18" charset="0"/>
                    <a:cs typeface="Times New Roman" panose="02020603050405020304" pitchFamily="18" charset="0"/>
                  </a:rPr>
                  <a:t>Bayes’ Theorem</a:t>
                </a:r>
                <a:r>
                  <a:rPr lang="en-US" sz="14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I assumes </a:t>
                </a:r>
                <a:r>
                  <a:rPr lang="en-US" altLang="en-US" sz="1400" b="1" dirty="0">
                    <a:latin typeface="Times New Roman" panose="02020603050405020304" pitchFamily="18" charset="0"/>
                    <a:cs typeface="Times New Roman" panose="02020603050405020304" pitchFamily="18" charset="0"/>
                  </a:rPr>
                  <a:t>independence among features</a:t>
                </a:r>
                <a:r>
                  <a:rPr lang="en-US" altLang="en-US" sz="1400" dirty="0">
                    <a:latin typeface="Times New Roman" panose="02020603050405020304" pitchFamily="18" charset="0"/>
                    <a:cs typeface="Times New Roman" panose="02020603050405020304" pitchFamily="18" charset="0"/>
                  </a:rPr>
                  <a:t> (hence “naïve”).Commonly used for </a:t>
                </a:r>
                <a:r>
                  <a:rPr lang="en-US" altLang="en-US" sz="1400" b="1" dirty="0">
                    <a:latin typeface="Times New Roman" panose="02020603050405020304" pitchFamily="18" charset="0"/>
                    <a:cs typeface="Times New Roman" panose="02020603050405020304" pitchFamily="18" charset="0"/>
                  </a:rPr>
                  <a:t>text classification</a:t>
                </a:r>
                <a:r>
                  <a:rPr lang="en-US" altLang="en-US" sz="1400" dirty="0">
                    <a:latin typeface="Times New Roman" panose="02020603050405020304" pitchFamily="18" charset="0"/>
                    <a:cs typeface="Times New Roman" panose="02020603050405020304" pitchFamily="18" charset="0"/>
                  </a:rPr>
                  <a:t> (spam filtering, sentiment analysis, document categorization).</a:t>
                </a:r>
                <a:r>
                  <a:rPr lang="en-IN" sz="1400" b="1" dirty="0">
                    <a:latin typeface="Times New Roman" panose="02020603050405020304" pitchFamily="18" charset="0"/>
                    <a:cs typeface="Times New Roman" panose="02020603050405020304" pitchFamily="18" charset="0"/>
                  </a:rPr>
                  <a:t>   </a:t>
                </a:r>
              </a:p>
              <a:p>
                <a:pPr>
                  <a:lnSpc>
                    <a:spcPct val="150000"/>
                  </a:lnSpc>
                </a:pPr>
                <a:r>
                  <a:rPr lang="en-IN" sz="1400" b="1" dirty="0">
                    <a:latin typeface="Times New Roman" panose="02020603050405020304" pitchFamily="18" charset="0"/>
                    <a:cs typeface="Times New Roman" panose="02020603050405020304" pitchFamily="18" charset="0"/>
                  </a:rPr>
                  <a:t>Bayes’ Theorem</a:t>
                </a:r>
                <a:r>
                  <a:rPr lang="en-IN" sz="1400" dirty="0">
                    <a:latin typeface="Times New Roman" panose="02020603050405020304" pitchFamily="18" charset="0"/>
                    <a:cs typeface="Times New Roman" panose="02020603050405020304" pitchFamily="18" charset="0"/>
                  </a:rPr>
                  <a:t>:</a:t>
                </a:r>
              </a:p>
              <a:p>
                <a:pPr>
                  <a:lnSpc>
                    <a:spcPct val="150000"/>
                  </a:lnSpc>
                </a:pPr>
                <a14:m>
                  <m:oMathPara xmlns:m="http://schemas.openxmlformats.org/officeDocument/2006/math">
                    <m:oMathParaPr>
                      <m:jc m:val="centerGroup"/>
                    </m:oMathParaPr>
                    <m:oMath xmlns:m="http://schemas.openxmlformats.org/officeDocument/2006/math">
                      <m:r>
                        <a:rPr lang="en-IN" sz="1400" i="1">
                          <a:latin typeface="Cambria Math" panose="02040503050406030204" pitchFamily="18" charset="0"/>
                        </a:rPr>
                        <m:t>𝑃</m:t>
                      </m:r>
                      <m:d>
                        <m:dPr>
                          <m:ctrlPr>
                            <a:rPr lang="ar-AE" sz="1400" i="1">
                              <a:latin typeface="Cambria Math" panose="02040503050406030204" pitchFamily="18" charset="0"/>
                            </a:rPr>
                          </m:ctrlPr>
                        </m:dPr>
                        <m:e>
                          <m:r>
                            <a:rPr lang="ar-AE" sz="1400" i="1">
                              <a:latin typeface="Cambria Math" panose="02040503050406030204" pitchFamily="18" charset="0"/>
                            </a:rPr>
                            <m:t>𝐶</m:t>
                          </m:r>
                          <m:r>
                            <a:rPr lang="ar-AE" sz="1400">
                              <a:latin typeface="Cambria Math" panose="02040503050406030204" pitchFamily="18" charset="0"/>
                            </a:rPr>
                            <m:t>∣</m:t>
                          </m:r>
                          <m:r>
                            <a:rPr lang="ar-AE" sz="1400" i="1">
                              <a:latin typeface="Cambria Math" panose="02040503050406030204" pitchFamily="18" charset="0"/>
                            </a:rPr>
                            <m:t>𝑋</m:t>
                          </m:r>
                        </m:e>
                      </m:d>
                      <m:r>
                        <a:rPr lang="ar-AE" sz="1400">
                          <a:latin typeface="Cambria Math" panose="02040503050406030204" pitchFamily="18" charset="0"/>
                        </a:rPr>
                        <m:t>=</m:t>
                      </m:r>
                      <m:f>
                        <m:fPr>
                          <m:ctrlPr>
                            <a:rPr lang="ar-AE" sz="1400" i="1">
                              <a:latin typeface="Cambria Math" panose="02040503050406030204" pitchFamily="18" charset="0"/>
                            </a:rPr>
                          </m:ctrlPr>
                        </m:fPr>
                        <m:num>
                          <m:r>
                            <a:rPr lang="ar-AE" sz="1400" i="1">
                              <a:latin typeface="Cambria Math" panose="02040503050406030204" pitchFamily="18" charset="0"/>
                            </a:rPr>
                            <m:t>𝑃</m:t>
                          </m:r>
                          <m:d>
                            <m:dPr>
                              <m:ctrlPr>
                                <a:rPr lang="ar-AE" sz="1400" i="1">
                                  <a:latin typeface="Cambria Math" panose="02040503050406030204" pitchFamily="18" charset="0"/>
                                </a:rPr>
                              </m:ctrlPr>
                            </m:dPr>
                            <m:e>
                              <m:r>
                                <a:rPr lang="ar-AE" sz="1400" i="1">
                                  <a:latin typeface="Cambria Math" panose="02040503050406030204" pitchFamily="18" charset="0"/>
                                </a:rPr>
                                <m:t>𝑋</m:t>
                              </m:r>
                              <m:r>
                                <a:rPr lang="ar-AE" sz="1400">
                                  <a:latin typeface="Cambria Math" panose="02040503050406030204" pitchFamily="18" charset="0"/>
                                </a:rPr>
                                <m:t>∣</m:t>
                              </m:r>
                              <m:r>
                                <a:rPr lang="ar-AE" sz="1400" i="1">
                                  <a:latin typeface="Cambria Math" panose="02040503050406030204" pitchFamily="18" charset="0"/>
                                </a:rPr>
                                <m:t>𝐶</m:t>
                              </m:r>
                            </m:e>
                          </m:d>
                          <m:r>
                            <a:rPr lang="ar-AE" sz="1400">
                              <a:latin typeface="Cambria Math" panose="02040503050406030204" pitchFamily="18" charset="0"/>
                            </a:rPr>
                            <m:t>⋅</m:t>
                          </m:r>
                          <m:r>
                            <a:rPr lang="ar-AE" sz="1400" i="1">
                              <a:latin typeface="Cambria Math" panose="02040503050406030204" pitchFamily="18" charset="0"/>
                            </a:rPr>
                            <m:t>𝑃</m:t>
                          </m:r>
                          <m:d>
                            <m:dPr>
                              <m:ctrlPr>
                                <a:rPr lang="ar-AE" sz="1400" i="1">
                                  <a:latin typeface="Cambria Math" panose="02040503050406030204" pitchFamily="18" charset="0"/>
                                </a:rPr>
                              </m:ctrlPr>
                            </m:dPr>
                            <m:e>
                              <m:r>
                                <a:rPr lang="ar-AE" sz="1400" i="1">
                                  <a:latin typeface="Cambria Math" panose="02040503050406030204" pitchFamily="18" charset="0"/>
                                </a:rPr>
                                <m:t>𝐶</m:t>
                              </m:r>
                            </m:e>
                          </m:d>
                        </m:num>
                        <m:den>
                          <m:r>
                            <a:rPr lang="ar-AE" sz="1400" i="1">
                              <a:latin typeface="Cambria Math" panose="02040503050406030204" pitchFamily="18" charset="0"/>
                            </a:rPr>
                            <m:t>𝑃</m:t>
                          </m:r>
                          <m:d>
                            <m:dPr>
                              <m:ctrlPr>
                                <a:rPr lang="ar-AE" sz="1400" i="1">
                                  <a:latin typeface="Cambria Math" panose="02040503050406030204" pitchFamily="18" charset="0"/>
                                </a:rPr>
                              </m:ctrlPr>
                            </m:dPr>
                            <m:e>
                              <m:r>
                                <a:rPr lang="ar-AE" sz="1400" i="1">
                                  <a:latin typeface="Cambria Math" panose="02040503050406030204" pitchFamily="18" charset="0"/>
                                </a:rPr>
                                <m:t>𝑋</m:t>
                              </m:r>
                            </m:e>
                          </m:d>
                        </m:den>
                      </m:f>
                    </m:oMath>
                  </m:oMathPara>
                </a14:m>
                <a:endParaRPr lang="en-US" sz="1400" dirty="0">
                  <a:latin typeface="Times New Roman" panose="02020603050405020304" pitchFamily="18" charset="0"/>
                  <a:cs typeface="Times New Roman" panose="02020603050405020304" pitchFamily="18" charset="0"/>
                </a:endParaRPr>
              </a:p>
              <a:p>
                <a:pPr>
                  <a:lnSpc>
                    <a:spcPct val="150000"/>
                  </a:lnSpc>
                </a:pPr>
                <a:r>
                  <a:rPr lang="en-IN" sz="1400" dirty="0">
                    <a:latin typeface="Times New Roman" panose="02020603050405020304" pitchFamily="18" charset="0"/>
                    <a:cs typeface="Times New Roman" panose="02020603050405020304" pitchFamily="18" charset="0"/>
                  </a:rPr>
                  <a:t>Where:</a:t>
                </a:r>
              </a:p>
              <a:p>
                <a:pPr>
                  <a:lnSpc>
                    <a:spcPct val="150000"/>
                  </a:lnSpc>
                </a:pPr>
                <a14:m>
                  <m:oMath xmlns:m="http://schemas.openxmlformats.org/officeDocument/2006/math">
                    <m:r>
                      <a:rPr lang="en-IN" sz="1600" i="1">
                        <a:latin typeface="Cambria Math" panose="02040503050406030204" pitchFamily="18" charset="0"/>
                      </a:rPr>
                      <m:t>𝐶</m:t>
                    </m:r>
                  </m:oMath>
                </a14:m>
                <a:r>
                  <a:rPr lang="en-IN" sz="1400" dirty="0">
                    <a:latin typeface="Times New Roman" panose="02020603050405020304" pitchFamily="18" charset="0"/>
                    <a:cs typeface="Times New Roman" panose="02020603050405020304" pitchFamily="18" charset="0"/>
                  </a:rPr>
                  <a:t>= class</a:t>
                </a:r>
              </a:p>
              <a:p>
                <a:pPr>
                  <a:lnSpc>
                    <a:spcPct val="150000"/>
                  </a:lnSpc>
                </a:pPr>
                <a14:m>
                  <m:oMath xmlns:m="http://schemas.openxmlformats.org/officeDocument/2006/math">
                    <m:r>
                      <a:rPr lang="en-IN" sz="1600" i="1">
                        <a:latin typeface="Cambria Math" panose="02040503050406030204" pitchFamily="18" charset="0"/>
                      </a:rPr>
                      <m:t>𝑋</m:t>
                    </m:r>
                    <m:r>
                      <a:rPr lang="en-IN" sz="1600">
                        <a:latin typeface="Cambria Math" panose="02040503050406030204" pitchFamily="18" charset="0"/>
                      </a:rPr>
                      <m:t>=</m:t>
                    </m:r>
                    <m:d>
                      <m:dPr>
                        <m:sep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a:latin typeface="Cambria Math" panose="02040503050406030204" pitchFamily="18" charset="0"/>
                              </a:rPr>
                              <m:t>1</m:t>
                            </m:r>
                          </m:sub>
                        </m:sSub>
                      </m:e>
                      <m:e>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a:latin typeface="Cambria Math" panose="02040503050406030204" pitchFamily="18" charset="0"/>
                              </a:rPr>
                              <m:t>2</m:t>
                            </m:r>
                          </m:sub>
                        </m:sSub>
                      </m:e>
                      <m:e>
                        <m:r>
                          <a:rPr lang="ar-AE" sz="1600">
                            <a:latin typeface="Cambria Math" panose="02040503050406030204" pitchFamily="18" charset="0"/>
                          </a:rPr>
                          <m:t>.</m:t>
                        </m:r>
                      </m:e>
                      <m:e>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i="1">
                                <a:latin typeface="Cambria Math" panose="02040503050406030204" pitchFamily="18" charset="0"/>
                              </a:rPr>
                              <m:t>𝑛</m:t>
                            </m:r>
                          </m:sub>
                        </m:sSub>
                      </m:e>
                    </m:d>
                  </m:oMath>
                </a14:m>
                <a:r>
                  <a:rPr lang="ar-AE"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feature vector</a:t>
                </a:r>
              </a:p>
              <a:p>
                <a:pPr>
                  <a:lnSpc>
                    <a:spcPct val="150000"/>
                  </a:lnSpc>
                </a:pPr>
                <a14:m>
                  <m:oMath xmlns:m="http://schemas.openxmlformats.org/officeDocument/2006/math">
                    <m:r>
                      <a:rPr lang="en-IN" sz="1600" i="1">
                        <a:latin typeface="Cambria Math" panose="02040503050406030204" pitchFamily="18" charset="0"/>
                      </a:rPr>
                      <m:t>𝑃</m:t>
                    </m:r>
                    <m:d>
                      <m:dPr>
                        <m:ctrlPr>
                          <a:rPr lang="ar-AE" sz="1600" i="1">
                            <a:latin typeface="Cambria Math" panose="02040503050406030204" pitchFamily="18" charset="0"/>
                          </a:rPr>
                        </m:ctrlPr>
                      </m:dPr>
                      <m:e>
                        <m:r>
                          <a:rPr lang="ar-AE" sz="1600" i="1">
                            <a:latin typeface="Cambria Math" panose="02040503050406030204" pitchFamily="18" charset="0"/>
                          </a:rPr>
                          <m:t>𝐶</m:t>
                        </m:r>
                        <m:r>
                          <a:rPr lang="ar-AE" sz="1600">
                            <a:latin typeface="Cambria Math" panose="02040503050406030204" pitchFamily="18" charset="0"/>
                          </a:rPr>
                          <m:t>∣</m:t>
                        </m:r>
                        <m:r>
                          <a:rPr lang="ar-AE" sz="1600" i="1">
                            <a:latin typeface="Cambria Math" panose="02040503050406030204" pitchFamily="18" charset="0"/>
                          </a:rPr>
                          <m:t>𝑋</m:t>
                        </m:r>
                      </m:e>
                    </m:d>
                  </m:oMath>
                </a14:m>
                <a:r>
                  <a:rPr lang="ar-AE"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posterior probability of class given features</a:t>
                </a:r>
              </a:p>
              <a:p>
                <a:pPr>
                  <a:lnSpc>
                    <a:spcPct val="150000"/>
                  </a:lnSpc>
                </a:pPr>
                <a14:m>
                  <m:oMath xmlns:m="http://schemas.openxmlformats.org/officeDocument/2006/math">
                    <m:r>
                      <a:rPr lang="en-IN" sz="1600" i="1">
                        <a:latin typeface="Cambria Math" panose="02040503050406030204" pitchFamily="18" charset="0"/>
                      </a:rPr>
                      <m:t>𝑃</m:t>
                    </m:r>
                    <m:d>
                      <m:dPr>
                        <m:ctrlPr>
                          <a:rPr lang="ar-AE" sz="1600" i="1">
                            <a:latin typeface="Cambria Math" panose="02040503050406030204" pitchFamily="18" charset="0"/>
                          </a:rPr>
                        </m:ctrlPr>
                      </m:dPr>
                      <m:e>
                        <m:r>
                          <a:rPr lang="ar-AE" sz="1600" i="1">
                            <a:latin typeface="Cambria Math" panose="02040503050406030204" pitchFamily="18" charset="0"/>
                          </a:rPr>
                          <m:t>𝑋</m:t>
                        </m:r>
                        <m:r>
                          <a:rPr lang="ar-AE" sz="1600">
                            <a:latin typeface="Cambria Math" panose="02040503050406030204" pitchFamily="18" charset="0"/>
                          </a:rPr>
                          <m:t>∣</m:t>
                        </m:r>
                        <m:r>
                          <a:rPr lang="ar-AE" sz="1600" i="1">
                            <a:latin typeface="Cambria Math" panose="02040503050406030204" pitchFamily="18" charset="0"/>
                          </a:rPr>
                          <m:t>𝐶</m:t>
                        </m:r>
                      </m:e>
                    </m:d>
                  </m:oMath>
                </a14:m>
                <a:r>
                  <a:rPr lang="ar-AE"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likelihood</a:t>
                </a:r>
              </a:p>
              <a:p>
                <a:pPr>
                  <a:lnSpc>
                    <a:spcPct val="150000"/>
                  </a:lnSpc>
                </a:pPr>
                <a14:m>
                  <m:oMath xmlns:m="http://schemas.openxmlformats.org/officeDocument/2006/math">
                    <m:r>
                      <a:rPr lang="en-IN" sz="1600" i="1">
                        <a:latin typeface="Cambria Math" panose="02040503050406030204" pitchFamily="18" charset="0"/>
                      </a:rPr>
                      <m:t>𝑃</m:t>
                    </m:r>
                    <m:d>
                      <m:dPr>
                        <m:ctrlPr>
                          <a:rPr lang="ar-AE" sz="1600" i="1">
                            <a:latin typeface="Cambria Math" panose="02040503050406030204" pitchFamily="18" charset="0"/>
                          </a:rPr>
                        </m:ctrlPr>
                      </m:dPr>
                      <m:e>
                        <m:r>
                          <a:rPr lang="ar-AE" sz="1600" i="1">
                            <a:latin typeface="Cambria Math" panose="02040503050406030204" pitchFamily="18" charset="0"/>
                          </a:rPr>
                          <m:t>𝐶</m:t>
                        </m:r>
                      </m:e>
                    </m:d>
                  </m:oMath>
                </a14:m>
                <a:r>
                  <a:rPr lang="ar-AE"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prior probability of class</a:t>
                </a:r>
              </a:p>
              <a:p>
                <a:pPr>
                  <a:lnSpc>
                    <a:spcPct val="150000"/>
                  </a:lnSpc>
                </a:pPr>
                <a14:m>
                  <m:oMath xmlns:m="http://schemas.openxmlformats.org/officeDocument/2006/math">
                    <m:r>
                      <a:rPr lang="en-IN" sz="1600" i="1">
                        <a:latin typeface="Cambria Math" panose="02040503050406030204" pitchFamily="18" charset="0"/>
                      </a:rPr>
                      <m:t>𝑃</m:t>
                    </m:r>
                    <m:d>
                      <m:dPr>
                        <m:ctrlPr>
                          <a:rPr lang="ar-AE" sz="1600" i="1">
                            <a:latin typeface="Cambria Math" panose="02040503050406030204" pitchFamily="18" charset="0"/>
                          </a:rPr>
                        </m:ctrlPr>
                      </m:dPr>
                      <m:e>
                        <m:r>
                          <a:rPr lang="ar-AE" sz="1600" i="1">
                            <a:latin typeface="Cambria Math" panose="02040503050406030204" pitchFamily="18" charset="0"/>
                          </a:rPr>
                          <m:t>𝑋</m:t>
                        </m:r>
                      </m:e>
                    </m:d>
                  </m:oMath>
                </a14:m>
                <a:r>
                  <a:rPr lang="ar-AE"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evidence (normalizing constant)</a:t>
                </a:r>
              </a:p>
              <a:p>
                <a:pPr>
                  <a:lnSpc>
                    <a:spcPct val="150000"/>
                  </a:lnSpc>
                </a:pPr>
                <a:r>
                  <a:rPr lang="en-US" sz="1400" b="1" dirty="0">
                    <a:latin typeface="Times New Roman" panose="02020603050405020304" pitchFamily="18" charset="0"/>
                    <a:cs typeface="Times New Roman" panose="02020603050405020304" pitchFamily="18" charset="0"/>
                  </a:rPr>
                  <a:t>Mathematical Overview:</a:t>
                </a:r>
              </a:p>
              <a:p>
                <a:pPr marL="82550" indent="0">
                  <a:buFont typeface="Wingdings" panose="05000000000000000000" pitchFamily="2" charset="2"/>
                  <a:buNone/>
                </a:pPr>
                <a:r>
                  <a:rPr lang="en-US" sz="1400" dirty="0">
                    <a:latin typeface="Times New Roman" panose="02020603050405020304" pitchFamily="18" charset="0"/>
                    <a:cs typeface="Times New Roman" panose="02020603050405020304" pitchFamily="18" charset="0"/>
                  </a:rPr>
                  <a:t>1. TF-IDF Formula:</a:t>
                </a:r>
              </a:p>
              <a:p>
                <a:pPr marL="82550" indent="0">
                  <a:buNone/>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cs typeface="Cambria Math" panose="02040503050406030204" pitchFamily="18" charset="0"/>
                        </a:rPr>
                        <m:t>𝑇𝐹</m:t>
                      </m:r>
                      <m:r>
                        <a:rPr lang="en-US" sz="1400" i="1">
                          <a:latin typeface="Cambria Math" panose="02040503050406030204" pitchFamily="18" charset="0"/>
                          <a:ea typeface="MS Mincho" charset="0"/>
                          <a:cs typeface="Cambria Math" panose="02040503050406030204" pitchFamily="18" charset="0"/>
                        </a:rPr>
                        <m:t>−</m:t>
                      </m:r>
                      <m:r>
                        <a:rPr lang="en-US" sz="1400" i="1">
                          <a:latin typeface="Cambria Math" panose="02040503050406030204" pitchFamily="18" charset="0"/>
                          <a:cs typeface="Cambria Math" panose="02040503050406030204" pitchFamily="18" charset="0"/>
                        </a:rPr>
                        <m:t>𝐼𝐷𝐹</m:t>
                      </m:r>
                      <m:d>
                        <m:dPr>
                          <m:ctrlPr>
                            <a:rPr lang="en-US" sz="1400" i="1">
                              <a:latin typeface="Cambria Math" panose="02040503050406030204" pitchFamily="18" charset="0"/>
                              <a:cs typeface="Cambria Math" panose="02040503050406030204" pitchFamily="18" charset="0"/>
                            </a:rPr>
                          </m:ctrlPr>
                        </m:dPr>
                        <m:e>
                          <m:r>
                            <a:rPr lang="en-US" sz="1400" i="1">
                              <a:latin typeface="Cambria Math" panose="02040503050406030204" pitchFamily="18" charset="0"/>
                              <a:cs typeface="Cambria Math" panose="02040503050406030204" pitchFamily="18" charset="0"/>
                            </a:rPr>
                            <m:t>𝑡</m:t>
                          </m:r>
                          <m:r>
                            <a:rPr lang="en-US" sz="1400" i="1">
                              <a:latin typeface="Cambria Math" panose="02040503050406030204" pitchFamily="18" charset="0"/>
                              <a:ea typeface="MS Mincho" charset="0"/>
                              <a:cs typeface="Cambria Math" panose="02040503050406030204" pitchFamily="18" charset="0"/>
                            </a:rPr>
                            <m:t>,</m:t>
                          </m:r>
                          <m:r>
                            <a:rPr lang="en-US" sz="1400" i="1">
                              <a:latin typeface="Cambria Math" panose="02040503050406030204" pitchFamily="18" charset="0"/>
                              <a:cs typeface="Cambria Math" panose="02040503050406030204" pitchFamily="18" charset="0"/>
                            </a:rPr>
                            <m:t>𝑑</m:t>
                          </m:r>
                        </m:e>
                      </m:d>
                      <m:r>
                        <a:rPr lang="en-US" sz="1400" i="1">
                          <a:latin typeface="Cambria Math" panose="02040503050406030204" pitchFamily="18" charset="0"/>
                          <a:ea typeface="MS Mincho" charset="0"/>
                          <a:cs typeface="Cambria Math" panose="02040503050406030204" pitchFamily="18" charset="0"/>
                        </a:rPr>
                        <m:t>=</m:t>
                      </m:r>
                      <m:r>
                        <a:rPr lang="en-US" sz="1400" i="1">
                          <a:latin typeface="Cambria Math" panose="02040503050406030204" pitchFamily="18" charset="0"/>
                          <a:cs typeface="Cambria Math" panose="02040503050406030204" pitchFamily="18" charset="0"/>
                        </a:rPr>
                        <m:t>𝑇𝐹</m:t>
                      </m:r>
                      <m:d>
                        <m:dPr>
                          <m:ctrlPr>
                            <a:rPr lang="en-US" sz="1400" i="1">
                              <a:latin typeface="Cambria Math" panose="02040503050406030204" pitchFamily="18" charset="0"/>
                              <a:cs typeface="Cambria Math" panose="02040503050406030204" pitchFamily="18" charset="0"/>
                            </a:rPr>
                          </m:ctrlPr>
                        </m:dPr>
                        <m:e>
                          <m:r>
                            <a:rPr lang="en-US" sz="1400" i="1">
                              <a:latin typeface="Cambria Math" panose="02040503050406030204" pitchFamily="18" charset="0"/>
                              <a:cs typeface="Cambria Math" panose="02040503050406030204" pitchFamily="18" charset="0"/>
                            </a:rPr>
                            <m:t>𝑡</m:t>
                          </m:r>
                          <m:r>
                            <a:rPr lang="en-US" sz="1400" i="1">
                              <a:latin typeface="Cambria Math" panose="02040503050406030204" pitchFamily="18" charset="0"/>
                              <a:ea typeface="MS Mincho" charset="0"/>
                              <a:cs typeface="Cambria Math" panose="02040503050406030204" pitchFamily="18" charset="0"/>
                            </a:rPr>
                            <m:t>,</m:t>
                          </m:r>
                          <m:r>
                            <a:rPr lang="en-US" sz="1400" i="1">
                              <a:latin typeface="Cambria Math" panose="02040503050406030204" pitchFamily="18" charset="0"/>
                              <a:cs typeface="Cambria Math" panose="02040503050406030204" pitchFamily="18" charset="0"/>
                            </a:rPr>
                            <m:t>𝑑</m:t>
                          </m:r>
                        </m:e>
                      </m:d>
                      <m:r>
                        <a:rPr lang="en-US" sz="1400" i="1">
                          <a:latin typeface="Cambria Math" panose="02040503050406030204" pitchFamily="18" charset="0"/>
                          <a:ea typeface="MS Mincho" charset="0"/>
                          <a:cs typeface="Cambria Math" panose="02040503050406030204" pitchFamily="18" charset="0"/>
                        </a:rPr>
                        <m:t>∗</m:t>
                      </m:r>
                      <m:r>
                        <m:rPr>
                          <m:sty m:val="p"/>
                        </m:rPr>
                        <a:rPr lang="en-US" sz="1400">
                          <a:latin typeface="Cambria Math" panose="02040503050406030204" pitchFamily="18" charset="0"/>
                          <a:cs typeface="Cambria Math" panose="02040503050406030204" pitchFamily="18" charset="0"/>
                        </a:rPr>
                        <m:t>log</m:t>
                      </m:r>
                      <m:r>
                        <a:rPr lang="en-US" sz="1400" i="1">
                          <a:latin typeface="Cambria Math" panose="02040503050406030204" pitchFamily="18" charset="0"/>
                          <a:ea typeface="MS Mincho" charset="0"/>
                          <a:cs typeface="Cambria Math" panose="02040503050406030204" pitchFamily="18" charset="0"/>
                        </a:rPr>
                        <m:t>⁡(</m:t>
                      </m:r>
                      <m:f>
                        <m:fPr>
                          <m:ctrlPr>
                            <a:rPr lang="en-US" sz="1400" i="1">
                              <a:latin typeface="Cambria Math" panose="02040503050406030204" pitchFamily="18" charset="0"/>
                              <a:cs typeface="Cambria Math" panose="02040503050406030204" pitchFamily="18" charset="0"/>
                            </a:rPr>
                          </m:ctrlPr>
                        </m:fPr>
                        <m:num>
                          <m:r>
                            <a:rPr lang="en-US" sz="1400" i="1">
                              <a:latin typeface="Cambria Math" panose="02040503050406030204" pitchFamily="18" charset="0"/>
                              <a:cs typeface="Cambria Math" panose="02040503050406030204" pitchFamily="18" charset="0"/>
                            </a:rPr>
                            <m:t>𝑁</m:t>
                          </m:r>
                        </m:num>
                        <m:den>
                          <m:r>
                            <a:rPr lang="en-US" sz="1400" i="1">
                              <a:latin typeface="Cambria Math" panose="02040503050406030204" pitchFamily="18" charset="0"/>
                              <a:cs typeface="Cambria Math" panose="02040503050406030204" pitchFamily="18" charset="0"/>
                            </a:rPr>
                            <m:t>𝐷𝐹</m:t>
                          </m:r>
                          <m:d>
                            <m:dPr>
                              <m:ctrlPr>
                                <a:rPr lang="en-US" sz="1400" i="1">
                                  <a:latin typeface="Cambria Math" panose="02040503050406030204" pitchFamily="18" charset="0"/>
                                  <a:cs typeface="Cambria Math" panose="02040503050406030204" pitchFamily="18" charset="0"/>
                                </a:rPr>
                              </m:ctrlPr>
                            </m:dPr>
                            <m:e>
                              <m:r>
                                <a:rPr lang="en-US" sz="1400" i="1">
                                  <a:latin typeface="Cambria Math" panose="02040503050406030204" pitchFamily="18" charset="0"/>
                                  <a:cs typeface="Cambria Math" panose="02040503050406030204" pitchFamily="18" charset="0"/>
                                </a:rPr>
                                <m:t>𝑡</m:t>
                              </m:r>
                            </m:e>
                          </m:d>
                        </m:den>
                      </m:f>
                      <m:r>
                        <a:rPr lang="en-US" sz="1400" i="1">
                          <a:latin typeface="Cambria Math" panose="02040503050406030204" pitchFamily="18" charset="0"/>
                          <a:ea typeface="MS Mincho" charset="0"/>
                          <a:cs typeface="Cambria Math" panose="02040503050406030204" pitchFamily="18" charset="0"/>
                        </a:rPr>
                        <m:t>)</m:t>
                      </m:r>
                    </m:oMath>
                  </m:oMathPara>
                </a14:m>
                <a:endParaRPr lang="en-US" sz="1400" dirty="0">
                  <a:latin typeface="Times New Roman" panose="02020603050405020304" pitchFamily="18" charset="0"/>
                  <a:cs typeface="Times New Roman" panose="02020603050405020304" pitchFamily="18" charset="0"/>
                </a:endParaRPr>
              </a:p>
              <a:p>
                <a:pPr marL="82550" indent="0">
                  <a:buNone/>
                </a:pPr>
                <a:endParaRPr lang="en-US" sz="1600" dirty="0"/>
              </a:p>
              <a:p>
                <a:pPr>
                  <a:buFont typeface="Wingdings" panose="05000000000000000000" pitchFamily="2" charset="2"/>
                  <a:buChar char="v"/>
                </a:pPr>
                <a:endParaRPr lang="en-IN" sz="1600" dirty="0"/>
              </a:p>
              <a:p>
                <a:pPr>
                  <a:lnSpc>
                    <a:spcPct val="150000"/>
                  </a:lnSpc>
                </a:pPr>
                <a:endParaRPr lang="en-IN" sz="1400" dirty="0">
                  <a:latin typeface="Times New Roman" panose="02020603050405020304" pitchFamily="18" charset="0"/>
                  <a:cs typeface="Times New Roman" panose="02020603050405020304" pitchFamily="18" charset="0"/>
                </a:endParaRP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endParaRPr lang="en-IN" sz="1400" dirty="0">
                  <a:latin typeface="Times New Roman" panose="02020603050405020304" pitchFamily="18"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id="{1C1F0AB9-3DA1-9C67-ACF2-AB0BD88C115C}"/>
                  </a:ext>
                </a:extLst>
              </p:cNvPr>
              <p:cNvSpPr txBox="1">
                <a:spLocks noRot="1" noChangeAspect="1" noMove="1" noResize="1" noEditPoints="1" noAdjustHandles="1" noChangeArrowheads="1" noChangeShapeType="1" noTextEdit="1"/>
              </p:cNvSpPr>
              <p:nvPr/>
            </p:nvSpPr>
            <p:spPr>
              <a:xfrm>
                <a:off x="1066800" y="914400"/>
                <a:ext cx="7772400" cy="6941900"/>
              </a:xfrm>
              <a:prstGeom prst="rect">
                <a:avLst/>
              </a:prstGeom>
              <a:blipFill>
                <a:blip r:embed="rId5"/>
                <a:stretch>
                  <a:fillRect l="-235"/>
                </a:stretch>
              </a:blipFill>
            </p:spPr>
            <p:txBody>
              <a:bodyPr/>
              <a:lstStyle/>
              <a:p>
                <a:r>
                  <a:rPr lang="en-IN">
                    <a:noFill/>
                  </a:rPr>
                  <a:t> </a:t>
                </a:r>
              </a:p>
            </p:txBody>
          </p:sp>
        </mc:Fallback>
      </mc:AlternateContent>
    </p:spTree>
    <p:extLst>
      <p:ext uri="{BB962C8B-B14F-4D97-AF65-F5344CB8AC3E}">
        <p14:creationId xmlns:p14="http://schemas.microsoft.com/office/powerpoint/2010/main" val="157465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0C30D551-2113-872B-EC39-F48F0EB33ADB}"/>
              </a:ext>
            </a:extLst>
          </p:cNvPr>
          <p:cNvSpPr>
            <a:spLocks noGrp="1"/>
          </p:cNvSpPr>
          <p:nvPr>
            <p:ph type="ftr" sz="quarter" idx="11"/>
          </p:nvPr>
        </p:nvSpPr>
        <p:spPr>
          <a:xfrm>
            <a:off x="990600" y="63817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AADF3496-B359-18C0-82C3-55A4D33B3426}"/>
              </a:ext>
            </a:extLst>
          </p:cNvPr>
          <p:cNvSpPr>
            <a:spLocks noGrp="1"/>
          </p:cNvSpPr>
          <p:nvPr>
            <p:ph type="sldNum" sz="quarter" idx="12"/>
          </p:nvPr>
        </p:nvSpPr>
        <p:spPr>
          <a:xfrm>
            <a:off x="4876800" y="6381750"/>
            <a:ext cx="533400" cy="476250"/>
          </a:xfrm>
        </p:spPr>
        <p:txBody>
          <a:bodyPr/>
          <a:lstStyle/>
          <a:p>
            <a:fld id="{348AA8EC-93FC-4A73-8ED3-9C6F6CB809D0}" type="slidenum">
              <a:rPr lang="en-US" smtClean="0"/>
              <a:t>15</a:t>
            </a:fld>
            <a:endParaRPr lang="en-US" dirty="0"/>
          </a:p>
        </p:txBody>
      </p:sp>
      <p:sp>
        <p:nvSpPr>
          <p:cNvPr id="7" name="Slide Number Placeholder 5">
            <a:extLst>
              <a:ext uri="{FF2B5EF4-FFF2-40B4-BE49-F238E27FC236}">
                <a16:creationId xmlns:a16="http://schemas.microsoft.com/office/drawing/2014/main" id="{638E4A71-79F8-CD49-8E25-94B924DE3C22}"/>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8" name="Picture 3">
            <a:extLst>
              <a:ext uri="{FF2B5EF4-FFF2-40B4-BE49-F238E27FC236}">
                <a16:creationId xmlns:a16="http://schemas.microsoft.com/office/drawing/2014/main" id="{5FC5229B-EBD3-7297-3C17-4E214A715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descr="Image result for knsit logo">
            <a:hlinkClick r:id="rId3"/>
            <a:extLst>
              <a:ext uri="{FF2B5EF4-FFF2-40B4-BE49-F238E27FC236}">
                <a16:creationId xmlns:a16="http://schemas.microsoft.com/office/drawing/2014/main" id="{49C09CA4-C8C7-6679-9E84-3A31EB8D95C1}"/>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10" name="TextBox 9">
            <a:extLst>
              <a:ext uri="{FF2B5EF4-FFF2-40B4-BE49-F238E27FC236}">
                <a16:creationId xmlns:a16="http://schemas.microsoft.com/office/drawing/2014/main" id="{F665EA20-F54D-6065-D97E-F1B7EADB6C69}"/>
              </a:ext>
            </a:extLst>
          </p:cNvPr>
          <p:cNvSpPr txBox="1"/>
          <p:nvPr/>
        </p:nvSpPr>
        <p:spPr>
          <a:xfrm>
            <a:off x="3429000" y="304800"/>
            <a:ext cx="3657600" cy="584775"/>
          </a:xfrm>
          <a:prstGeom prst="rect">
            <a:avLst/>
          </a:prstGeom>
          <a:noFill/>
        </p:spPr>
        <p:txBody>
          <a:bodyPr wrap="square" rtlCol="0">
            <a:spAutoFit/>
          </a:bodyPr>
          <a:lstStyle/>
          <a:p>
            <a:r>
              <a:rPr lang="en-IN" sz="3200" dirty="0">
                <a:solidFill>
                  <a:srgbClr val="5C79A3"/>
                </a:solidFill>
                <a:effectLst>
                  <a:outerShdw blurRad="38100" dist="38100" dir="2700000" algn="tl">
                    <a:srgbClr val="000000">
                      <a:alpha val="43137"/>
                    </a:srgbClr>
                  </a:outerShdw>
                </a:effectLst>
              </a:rPr>
              <a:t>Code and Result</a:t>
            </a:r>
          </a:p>
        </p:txBody>
      </p:sp>
      <p:sp>
        <p:nvSpPr>
          <p:cNvPr id="11" name="TextBox 10">
            <a:extLst>
              <a:ext uri="{FF2B5EF4-FFF2-40B4-BE49-F238E27FC236}">
                <a16:creationId xmlns:a16="http://schemas.microsoft.com/office/drawing/2014/main" id="{3E7B8B24-E6AE-010E-0BD6-F52CF574249F}"/>
              </a:ext>
            </a:extLst>
          </p:cNvPr>
          <p:cNvSpPr txBox="1"/>
          <p:nvPr/>
        </p:nvSpPr>
        <p:spPr>
          <a:xfrm>
            <a:off x="1066800" y="1066800"/>
            <a:ext cx="7848600" cy="1061829"/>
          </a:xfrm>
          <a:prstGeom prst="rect">
            <a:avLst/>
          </a:prstGeom>
          <a:noFill/>
        </p:spPr>
        <p:txBody>
          <a:bodyPr wrap="square" rtlCol="0">
            <a:spAutoFit/>
          </a:bodyPr>
          <a:lstStyle/>
          <a:p>
            <a:r>
              <a:rPr lang="en-IN" b="1" dirty="0">
                <a:latin typeface="+mj-lt"/>
                <a:cs typeface="Times New Roman" panose="02020603050405020304" pitchFamily="18" charset="0"/>
              </a:rPr>
              <a:t>Sentiment_Analysis.py: </a:t>
            </a:r>
            <a:r>
              <a:rPr lang="en-US" sz="1500" dirty="0">
                <a:latin typeface="Times New Roman" panose="02020603050405020304" pitchFamily="18" charset="0"/>
                <a:cs typeface="Times New Roman" panose="02020603050405020304" pitchFamily="18" charset="0"/>
              </a:rPr>
              <a:t>This code implements a </a:t>
            </a:r>
            <a:r>
              <a:rPr lang="en-US" sz="1500" b="1" dirty="0">
                <a:latin typeface="Times New Roman" panose="02020603050405020304" pitchFamily="18" charset="0"/>
                <a:cs typeface="Times New Roman" panose="02020603050405020304" pitchFamily="18" charset="0"/>
              </a:rPr>
              <a:t>comparative machine learning pipeline</a:t>
            </a:r>
            <a:r>
              <a:rPr lang="en-US" sz="1500" dirty="0">
                <a:latin typeface="Times New Roman" panose="02020603050405020304" pitchFamily="18" charset="0"/>
                <a:cs typeface="Times New Roman" panose="02020603050405020304" pitchFamily="18" charset="0"/>
              </a:rPr>
              <a:t> that trains multiple algorithms on text data to classify sentiment (positive/negative/neutral) and identifies the best-performing model.</a:t>
            </a:r>
          </a:p>
          <a:p>
            <a:endParaRPr lang="en-US" sz="15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3BB37C67-4DAA-EEBE-93E7-B128D3D5F0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2286000"/>
            <a:ext cx="7848600" cy="3543607"/>
          </a:xfrm>
          <a:prstGeom prst="rect">
            <a:avLst/>
          </a:prstGeom>
        </p:spPr>
      </p:pic>
    </p:spTree>
    <p:extLst>
      <p:ext uri="{BB962C8B-B14F-4D97-AF65-F5344CB8AC3E}">
        <p14:creationId xmlns:p14="http://schemas.microsoft.com/office/powerpoint/2010/main" val="31402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EC45FC3-05F8-1568-23BF-D427240D69F4}"/>
              </a:ext>
            </a:extLst>
          </p:cNvPr>
          <p:cNvSpPr>
            <a:spLocks noGrp="1"/>
          </p:cNvSpPr>
          <p:nvPr>
            <p:ph type="ftr" sz="quarter" idx="11"/>
          </p:nvPr>
        </p:nvSpPr>
        <p:spPr>
          <a:xfrm>
            <a:off x="1042686"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E02F10A6-C90A-6CC4-68D4-6807591DBBE1}"/>
              </a:ext>
            </a:extLst>
          </p:cNvPr>
          <p:cNvSpPr>
            <a:spLocks noGrp="1"/>
          </p:cNvSpPr>
          <p:nvPr>
            <p:ph type="sldNum" sz="quarter" idx="12"/>
          </p:nvPr>
        </p:nvSpPr>
        <p:spPr>
          <a:xfrm>
            <a:off x="5029200" y="6305550"/>
            <a:ext cx="457200" cy="476250"/>
          </a:xfrm>
        </p:spPr>
        <p:txBody>
          <a:bodyPr/>
          <a:lstStyle/>
          <a:p>
            <a:fld id="{348AA8EC-93FC-4A73-8ED3-9C6F6CB809D0}" type="slidenum">
              <a:rPr lang="en-US" smtClean="0"/>
              <a:t>16</a:t>
            </a:fld>
            <a:endParaRPr lang="en-US"/>
          </a:p>
        </p:txBody>
      </p:sp>
      <p:pic>
        <p:nvPicPr>
          <p:cNvPr id="7" name="Picture 3">
            <a:extLst>
              <a:ext uri="{FF2B5EF4-FFF2-40B4-BE49-F238E27FC236}">
                <a16:creationId xmlns:a16="http://schemas.microsoft.com/office/drawing/2014/main" id="{58CA12D5-3C1A-A26E-0B35-039FF963F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7BDF7871-6830-38F5-5CDE-D9E0614C00C4}"/>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12" name="TextBox 11">
            <a:extLst>
              <a:ext uri="{FF2B5EF4-FFF2-40B4-BE49-F238E27FC236}">
                <a16:creationId xmlns:a16="http://schemas.microsoft.com/office/drawing/2014/main" id="{95A834AB-6C72-C8C7-2162-1F84D9DDC532}"/>
              </a:ext>
            </a:extLst>
          </p:cNvPr>
          <p:cNvSpPr txBox="1"/>
          <p:nvPr/>
        </p:nvSpPr>
        <p:spPr>
          <a:xfrm>
            <a:off x="1143000" y="1066800"/>
            <a:ext cx="7772400" cy="369332"/>
          </a:xfrm>
          <a:prstGeom prst="rect">
            <a:avLst/>
          </a:prstGeom>
          <a:noFill/>
        </p:spPr>
        <p:txBody>
          <a:bodyPr wrap="square" rtlCol="0">
            <a:spAutoFit/>
          </a:bodyPr>
          <a:lstStyle/>
          <a:p>
            <a:r>
              <a:rPr lang="en-IN" b="1" dirty="0"/>
              <a:t>2. Feature Engineering:</a:t>
            </a:r>
          </a:p>
        </p:txBody>
      </p:sp>
      <p:pic>
        <p:nvPicPr>
          <p:cNvPr id="14" name="Picture 13">
            <a:extLst>
              <a:ext uri="{FF2B5EF4-FFF2-40B4-BE49-F238E27FC236}">
                <a16:creationId xmlns:a16="http://schemas.microsoft.com/office/drawing/2014/main" id="{236C0F2B-8101-270D-FBFB-13B030DC8E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5000" y="1447800"/>
            <a:ext cx="6477000" cy="1828800"/>
          </a:xfrm>
          <a:prstGeom prst="rect">
            <a:avLst/>
          </a:prstGeom>
        </p:spPr>
      </p:pic>
      <p:pic>
        <p:nvPicPr>
          <p:cNvPr id="16" name="Picture 15">
            <a:extLst>
              <a:ext uri="{FF2B5EF4-FFF2-40B4-BE49-F238E27FC236}">
                <a16:creationId xmlns:a16="http://schemas.microsoft.com/office/drawing/2014/main" id="{2424750B-F96A-D7EB-B322-68EC6396A7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3657600"/>
            <a:ext cx="7543800" cy="2370025"/>
          </a:xfrm>
          <a:prstGeom prst="rect">
            <a:avLst/>
          </a:prstGeom>
        </p:spPr>
      </p:pic>
      <p:sp>
        <p:nvSpPr>
          <p:cNvPr id="3" name="Slide Number Placeholder 5">
            <a:extLst>
              <a:ext uri="{FF2B5EF4-FFF2-40B4-BE49-F238E27FC236}">
                <a16:creationId xmlns:a16="http://schemas.microsoft.com/office/drawing/2014/main" id="{0D1DA904-D114-091D-7FA1-B4CA46528D14}"/>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2864867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3B950B8-63F6-2279-D4C4-1ABDFCF62126}"/>
              </a:ext>
            </a:extLst>
          </p:cNvPr>
          <p:cNvSpPr>
            <a:spLocks noGrp="1"/>
          </p:cNvSpPr>
          <p:nvPr>
            <p:ph type="ftr" sz="quarter" idx="11"/>
          </p:nvPr>
        </p:nvSpPr>
        <p:spPr>
          <a:xfrm>
            <a:off x="1173866" y="63817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620152F0-0E99-E3A0-2180-B0A5006DC918}"/>
              </a:ext>
            </a:extLst>
          </p:cNvPr>
          <p:cNvSpPr>
            <a:spLocks noGrp="1"/>
          </p:cNvSpPr>
          <p:nvPr>
            <p:ph type="sldNum" sz="quarter" idx="12"/>
          </p:nvPr>
        </p:nvSpPr>
        <p:spPr>
          <a:xfrm>
            <a:off x="4724400" y="6305550"/>
            <a:ext cx="457200" cy="476250"/>
          </a:xfrm>
        </p:spPr>
        <p:txBody>
          <a:bodyPr/>
          <a:lstStyle/>
          <a:p>
            <a:fld id="{348AA8EC-93FC-4A73-8ED3-9C6F6CB809D0}" type="slidenum">
              <a:rPr lang="en-US" smtClean="0"/>
              <a:t>17</a:t>
            </a:fld>
            <a:endParaRPr lang="en-US" dirty="0"/>
          </a:p>
        </p:txBody>
      </p:sp>
      <p:pic>
        <p:nvPicPr>
          <p:cNvPr id="7" name="Picture 3">
            <a:extLst>
              <a:ext uri="{FF2B5EF4-FFF2-40B4-BE49-F238E27FC236}">
                <a16:creationId xmlns:a16="http://schemas.microsoft.com/office/drawing/2014/main" id="{1081D1E4-EDAE-3750-68C3-A1A9ED759A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29D7D7D3-C9CD-D97E-AC59-C3CFD5C6ED0E}"/>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9" name="TextBox 8">
            <a:extLst>
              <a:ext uri="{FF2B5EF4-FFF2-40B4-BE49-F238E27FC236}">
                <a16:creationId xmlns:a16="http://schemas.microsoft.com/office/drawing/2014/main" id="{AC7B089A-8FF8-B05B-27D3-5E888FF9F7B6}"/>
              </a:ext>
            </a:extLst>
          </p:cNvPr>
          <p:cNvSpPr txBox="1"/>
          <p:nvPr/>
        </p:nvSpPr>
        <p:spPr>
          <a:xfrm>
            <a:off x="1143000" y="1066800"/>
            <a:ext cx="3912610" cy="369332"/>
          </a:xfrm>
          <a:prstGeom prst="rect">
            <a:avLst/>
          </a:prstGeom>
          <a:noFill/>
        </p:spPr>
        <p:txBody>
          <a:bodyPr wrap="none" rtlCol="0">
            <a:spAutoFit/>
          </a:bodyPr>
          <a:lstStyle/>
          <a:p>
            <a:r>
              <a:rPr lang="en-US" b="1" dirty="0"/>
              <a:t>4. Machine Learning Models Setup:</a:t>
            </a:r>
            <a:endParaRPr lang="en-IN" b="1" dirty="0"/>
          </a:p>
        </p:txBody>
      </p:sp>
      <p:pic>
        <p:nvPicPr>
          <p:cNvPr id="11" name="Picture 10">
            <a:extLst>
              <a:ext uri="{FF2B5EF4-FFF2-40B4-BE49-F238E27FC236}">
                <a16:creationId xmlns:a16="http://schemas.microsoft.com/office/drawing/2014/main" id="{5872BC63-EEF9-68B9-5732-3E0B5D7F1E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0200" y="1447800"/>
            <a:ext cx="7467600" cy="1760373"/>
          </a:xfrm>
          <a:prstGeom prst="rect">
            <a:avLst/>
          </a:prstGeom>
        </p:spPr>
      </p:pic>
      <p:pic>
        <p:nvPicPr>
          <p:cNvPr id="14" name="Picture 13">
            <a:extLst>
              <a:ext uri="{FF2B5EF4-FFF2-40B4-BE49-F238E27FC236}">
                <a16:creationId xmlns:a16="http://schemas.microsoft.com/office/drawing/2014/main" id="{E0B1866E-2041-24DF-30C5-A1194D997C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3276600"/>
            <a:ext cx="7924800" cy="2971800"/>
          </a:xfrm>
          <a:prstGeom prst="rect">
            <a:avLst/>
          </a:prstGeom>
        </p:spPr>
      </p:pic>
      <p:sp>
        <p:nvSpPr>
          <p:cNvPr id="2" name="Slide Number Placeholder 5">
            <a:extLst>
              <a:ext uri="{FF2B5EF4-FFF2-40B4-BE49-F238E27FC236}">
                <a16:creationId xmlns:a16="http://schemas.microsoft.com/office/drawing/2014/main" id="{DE4088F1-A197-86DA-9477-3CBB66C0C78E}"/>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3608311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001FA235-7AAE-FD3F-D99F-7007C07833DB}"/>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B1A10B8F-7C9D-D047-9237-5BD9A5FE11FD}"/>
              </a:ext>
            </a:extLst>
          </p:cNvPr>
          <p:cNvSpPr>
            <a:spLocks noGrp="1"/>
          </p:cNvSpPr>
          <p:nvPr>
            <p:ph type="sldNum" sz="quarter" idx="12"/>
          </p:nvPr>
        </p:nvSpPr>
        <p:spPr>
          <a:xfrm>
            <a:off x="5029200" y="6305550"/>
            <a:ext cx="457200" cy="476250"/>
          </a:xfrm>
        </p:spPr>
        <p:txBody>
          <a:bodyPr/>
          <a:lstStyle/>
          <a:p>
            <a:fld id="{348AA8EC-93FC-4A73-8ED3-9C6F6CB809D0}" type="slidenum">
              <a:rPr lang="en-US" smtClean="0"/>
              <a:t>18</a:t>
            </a:fld>
            <a:endParaRPr lang="en-US"/>
          </a:p>
        </p:txBody>
      </p:sp>
      <p:pic>
        <p:nvPicPr>
          <p:cNvPr id="7" name="Picture 3">
            <a:extLst>
              <a:ext uri="{FF2B5EF4-FFF2-40B4-BE49-F238E27FC236}">
                <a16:creationId xmlns:a16="http://schemas.microsoft.com/office/drawing/2014/main" id="{16704D59-D3A8-7A37-3065-3F6EB183D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2AC9CFD7-4A5C-85B2-36FC-8AEB98E76C8D}"/>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pic>
        <p:nvPicPr>
          <p:cNvPr id="10" name="Picture 9">
            <a:extLst>
              <a:ext uri="{FF2B5EF4-FFF2-40B4-BE49-F238E27FC236}">
                <a16:creationId xmlns:a16="http://schemas.microsoft.com/office/drawing/2014/main" id="{88232D75-59B4-4E5A-01F5-2876ABE325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9200" y="990600"/>
            <a:ext cx="7696200" cy="2057578"/>
          </a:xfrm>
          <a:prstGeom prst="rect">
            <a:avLst/>
          </a:prstGeom>
        </p:spPr>
      </p:pic>
      <p:pic>
        <p:nvPicPr>
          <p:cNvPr id="12" name="Picture 11">
            <a:extLst>
              <a:ext uri="{FF2B5EF4-FFF2-40B4-BE49-F238E27FC236}">
                <a16:creationId xmlns:a16="http://schemas.microsoft.com/office/drawing/2014/main" id="{21EBED77-D9DD-715E-DAE7-7FEC0D7211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9200" y="3276600"/>
            <a:ext cx="7696200" cy="1646063"/>
          </a:xfrm>
          <a:prstGeom prst="rect">
            <a:avLst/>
          </a:prstGeom>
        </p:spPr>
      </p:pic>
      <p:sp>
        <p:nvSpPr>
          <p:cNvPr id="2" name="Slide Number Placeholder 5">
            <a:extLst>
              <a:ext uri="{FF2B5EF4-FFF2-40B4-BE49-F238E27FC236}">
                <a16:creationId xmlns:a16="http://schemas.microsoft.com/office/drawing/2014/main" id="{6DCBBD0C-BDBB-0BD8-2675-6373A0D1AFE5}"/>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3241856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1A61-E8E4-64DD-774A-8133E2B7694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35D193-5F7B-1CD8-634B-6494D9D4F1BD}"/>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C5050C0B-8D35-D1D6-C8DA-7E04A1819867}"/>
              </a:ext>
            </a:extLst>
          </p:cNvPr>
          <p:cNvSpPr>
            <a:spLocks noGrp="1"/>
          </p:cNvSpPr>
          <p:nvPr>
            <p:ph type="sldNum" sz="quarter" idx="12"/>
          </p:nvPr>
        </p:nvSpPr>
        <p:spPr>
          <a:xfrm>
            <a:off x="5029200" y="6305550"/>
            <a:ext cx="457200" cy="476250"/>
          </a:xfrm>
        </p:spPr>
        <p:txBody>
          <a:bodyPr/>
          <a:lstStyle/>
          <a:p>
            <a:fld id="{348AA8EC-93FC-4A73-8ED3-9C6F6CB809D0}" type="slidenum">
              <a:rPr lang="en-US" smtClean="0"/>
              <a:t>19</a:t>
            </a:fld>
            <a:endParaRPr lang="en-US"/>
          </a:p>
        </p:txBody>
      </p:sp>
      <p:pic>
        <p:nvPicPr>
          <p:cNvPr id="7" name="Picture 3">
            <a:extLst>
              <a:ext uri="{FF2B5EF4-FFF2-40B4-BE49-F238E27FC236}">
                <a16:creationId xmlns:a16="http://schemas.microsoft.com/office/drawing/2014/main" id="{C0628D54-25E2-1708-0A4D-007FA1A41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52F8B742-1296-987E-7CD5-3A896C825E2D}"/>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2" name="Slide Number Placeholder 5">
            <a:extLst>
              <a:ext uri="{FF2B5EF4-FFF2-40B4-BE49-F238E27FC236}">
                <a16:creationId xmlns:a16="http://schemas.microsoft.com/office/drawing/2014/main" id="{ABDB14EE-2E1C-E38F-6DEC-15E607C1C4DF}"/>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11" name="Picture 10">
            <a:extLst>
              <a:ext uri="{FF2B5EF4-FFF2-40B4-BE49-F238E27FC236}">
                <a16:creationId xmlns:a16="http://schemas.microsoft.com/office/drawing/2014/main" id="{25ABA80D-49BE-BDD6-3561-5E49282322FF}"/>
              </a:ext>
            </a:extLst>
          </p:cNvPr>
          <p:cNvPicPr>
            <a:picLocks noChangeAspect="1"/>
          </p:cNvPicPr>
          <p:nvPr/>
        </p:nvPicPr>
        <p:blipFill>
          <a:blip r:embed="rId5"/>
          <a:stretch>
            <a:fillRect/>
          </a:stretch>
        </p:blipFill>
        <p:spPr>
          <a:xfrm>
            <a:off x="1143000" y="914400"/>
            <a:ext cx="7543800" cy="2743200"/>
          </a:xfrm>
          <a:prstGeom prst="rect">
            <a:avLst/>
          </a:prstGeom>
        </p:spPr>
      </p:pic>
      <p:pic>
        <p:nvPicPr>
          <p:cNvPr id="14" name="Picture 13">
            <a:extLst>
              <a:ext uri="{FF2B5EF4-FFF2-40B4-BE49-F238E27FC236}">
                <a16:creationId xmlns:a16="http://schemas.microsoft.com/office/drawing/2014/main" id="{87756309-5D14-33B9-95F6-F5052594943F}"/>
              </a:ext>
            </a:extLst>
          </p:cNvPr>
          <p:cNvPicPr>
            <a:picLocks noChangeAspect="1"/>
          </p:cNvPicPr>
          <p:nvPr/>
        </p:nvPicPr>
        <p:blipFill>
          <a:blip r:embed="rId6"/>
          <a:stretch>
            <a:fillRect/>
          </a:stretch>
        </p:blipFill>
        <p:spPr>
          <a:xfrm>
            <a:off x="1143000" y="3733800"/>
            <a:ext cx="7543801" cy="2457450"/>
          </a:xfrm>
          <a:prstGeom prst="rect">
            <a:avLst/>
          </a:prstGeom>
        </p:spPr>
      </p:pic>
    </p:spTree>
    <p:extLst>
      <p:ext uri="{BB962C8B-B14F-4D97-AF65-F5344CB8AC3E}">
        <p14:creationId xmlns:p14="http://schemas.microsoft.com/office/powerpoint/2010/main" val="627805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D863-EC13-CAC6-4ACE-418E03422A5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7C748FB-459A-4BB5-C1AA-175C1966D260}"/>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C4D02DEE-3E93-B754-6052-425C1F28FED9}"/>
              </a:ext>
            </a:extLst>
          </p:cNvPr>
          <p:cNvSpPr>
            <a:spLocks noGrp="1"/>
          </p:cNvSpPr>
          <p:nvPr>
            <p:ph type="sldNum" sz="quarter" idx="12"/>
          </p:nvPr>
        </p:nvSpPr>
        <p:spPr>
          <a:xfrm>
            <a:off x="5029200" y="6305550"/>
            <a:ext cx="457200" cy="476250"/>
          </a:xfrm>
        </p:spPr>
        <p:txBody>
          <a:bodyPr/>
          <a:lstStyle/>
          <a:p>
            <a:fld id="{348AA8EC-93FC-4A73-8ED3-9C6F6CB809D0}" type="slidenum">
              <a:rPr lang="en-US" smtClean="0"/>
              <a:t>20</a:t>
            </a:fld>
            <a:endParaRPr lang="en-US"/>
          </a:p>
        </p:txBody>
      </p:sp>
      <p:pic>
        <p:nvPicPr>
          <p:cNvPr id="7" name="Picture 3">
            <a:extLst>
              <a:ext uri="{FF2B5EF4-FFF2-40B4-BE49-F238E27FC236}">
                <a16:creationId xmlns:a16="http://schemas.microsoft.com/office/drawing/2014/main" id="{D6542C36-BC8B-42BC-CA06-07BB556C79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7315AD1E-56C5-F347-9AF4-0AE631DC7519}"/>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2" name="Slide Number Placeholder 5">
            <a:extLst>
              <a:ext uri="{FF2B5EF4-FFF2-40B4-BE49-F238E27FC236}">
                <a16:creationId xmlns:a16="http://schemas.microsoft.com/office/drawing/2014/main" id="{10B7D119-1FD1-30FB-FB10-90333B048EE7}"/>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4" name="Picture 3">
            <a:extLst>
              <a:ext uri="{FF2B5EF4-FFF2-40B4-BE49-F238E27FC236}">
                <a16:creationId xmlns:a16="http://schemas.microsoft.com/office/drawing/2014/main" id="{7D94B85C-843E-6257-1456-E62A7E6A8E62}"/>
              </a:ext>
            </a:extLst>
          </p:cNvPr>
          <p:cNvPicPr>
            <a:picLocks noChangeAspect="1"/>
          </p:cNvPicPr>
          <p:nvPr/>
        </p:nvPicPr>
        <p:blipFill>
          <a:blip r:embed="rId5"/>
          <a:stretch>
            <a:fillRect/>
          </a:stretch>
        </p:blipFill>
        <p:spPr>
          <a:xfrm>
            <a:off x="1066800" y="990600"/>
            <a:ext cx="7924800" cy="2209800"/>
          </a:xfrm>
          <a:prstGeom prst="rect">
            <a:avLst/>
          </a:prstGeom>
        </p:spPr>
      </p:pic>
      <p:pic>
        <p:nvPicPr>
          <p:cNvPr id="13" name="Picture 12">
            <a:extLst>
              <a:ext uri="{FF2B5EF4-FFF2-40B4-BE49-F238E27FC236}">
                <a16:creationId xmlns:a16="http://schemas.microsoft.com/office/drawing/2014/main" id="{7C41C76C-CF40-C622-3527-68A1C64B1C59}"/>
              </a:ext>
            </a:extLst>
          </p:cNvPr>
          <p:cNvPicPr>
            <a:picLocks noChangeAspect="1"/>
          </p:cNvPicPr>
          <p:nvPr/>
        </p:nvPicPr>
        <p:blipFill>
          <a:blip r:embed="rId6"/>
          <a:stretch>
            <a:fillRect/>
          </a:stretch>
        </p:blipFill>
        <p:spPr>
          <a:xfrm>
            <a:off x="1100137" y="3657600"/>
            <a:ext cx="7815263" cy="2590800"/>
          </a:xfrm>
          <a:prstGeom prst="rect">
            <a:avLst/>
          </a:prstGeom>
        </p:spPr>
      </p:pic>
      <p:pic>
        <p:nvPicPr>
          <p:cNvPr id="16" name="Picture 15">
            <a:extLst>
              <a:ext uri="{FF2B5EF4-FFF2-40B4-BE49-F238E27FC236}">
                <a16:creationId xmlns:a16="http://schemas.microsoft.com/office/drawing/2014/main" id="{1B48D784-BFD8-7145-CFA2-1E1E4E84A1B8}"/>
              </a:ext>
            </a:extLst>
          </p:cNvPr>
          <p:cNvPicPr>
            <a:picLocks noChangeAspect="1"/>
          </p:cNvPicPr>
          <p:nvPr/>
        </p:nvPicPr>
        <p:blipFill>
          <a:blip r:embed="rId7"/>
          <a:stretch>
            <a:fillRect/>
          </a:stretch>
        </p:blipFill>
        <p:spPr>
          <a:xfrm>
            <a:off x="1066800" y="3276600"/>
            <a:ext cx="4200525" cy="438150"/>
          </a:xfrm>
          <a:prstGeom prst="rect">
            <a:avLst/>
          </a:prstGeom>
        </p:spPr>
      </p:pic>
    </p:spTree>
    <p:extLst>
      <p:ext uri="{BB962C8B-B14F-4D97-AF65-F5344CB8AC3E}">
        <p14:creationId xmlns:p14="http://schemas.microsoft.com/office/powerpoint/2010/main" val="3256199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54DF5-1AE6-BD1D-037C-8F0B3A0CB4A9}"/>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C83319B-C8A7-D73A-9D12-05EA216B064B}"/>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6AE42E8F-A349-87CA-46C8-AF45AFAB4F51}"/>
              </a:ext>
            </a:extLst>
          </p:cNvPr>
          <p:cNvSpPr>
            <a:spLocks noGrp="1"/>
          </p:cNvSpPr>
          <p:nvPr>
            <p:ph type="sldNum" sz="quarter" idx="12"/>
          </p:nvPr>
        </p:nvSpPr>
        <p:spPr>
          <a:xfrm>
            <a:off x="5029200" y="6305550"/>
            <a:ext cx="457200" cy="476250"/>
          </a:xfrm>
        </p:spPr>
        <p:txBody>
          <a:bodyPr/>
          <a:lstStyle/>
          <a:p>
            <a:fld id="{348AA8EC-93FC-4A73-8ED3-9C6F6CB809D0}" type="slidenum">
              <a:rPr lang="en-US" smtClean="0"/>
              <a:t>21</a:t>
            </a:fld>
            <a:endParaRPr lang="en-US"/>
          </a:p>
        </p:txBody>
      </p:sp>
      <p:pic>
        <p:nvPicPr>
          <p:cNvPr id="7" name="Picture 3">
            <a:extLst>
              <a:ext uri="{FF2B5EF4-FFF2-40B4-BE49-F238E27FC236}">
                <a16:creationId xmlns:a16="http://schemas.microsoft.com/office/drawing/2014/main" id="{8F7A52D4-079C-291B-FC36-C2312DE37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A79144F4-7B06-BCDC-17CB-51B0AE6BCB11}"/>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2" name="Slide Number Placeholder 5">
            <a:extLst>
              <a:ext uri="{FF2B5EF4-FFF2-40B4-BE49-F238E27FC236}">
                <a16:creationId xmlns:a16="http://schemas.microsoft.com/office/drawing/2014/main" id="{FAC93A1D-5EF9-717A-E8BF-40A9523B611F}"/>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12" name="Picture 11">
            <a:extLst>
              <a:ext uri="{FF2B5EF4-FFF2-40B4-BE49-F238E27FC236}">
                <a16:creationId xmlns:a16="http://schemas.microsoft.com/office/drawing/2014/main" id="{9B934A5C-DBB7-5BCE-2B7B-6F20A4B8E80C}"/>
              </a:ext>
            </a:extLst>
          </p:cNvPr>
          <p:cNvPicPr>
            <a:picLocks noChangeAspect="1"/>
          </p:cNvPicPr>
          <p:nvPr/>
        </p:nvPicPr>
        <p:blipFill>
          <a:blip r:embed="rId5"/>
          <a:stretch>
            <a:fillRect/>
          </a:stretch>
        </p:blipFill>
        <p:spPr>
          <a:xfrm>
            <a:off x="1066800" y="3810000"/>
            <a:ext cx="7848600" cy="2514600"/>
          </a:xfrm>
          <a:prstGeom prst="rect">
            <a:avLst/>
          </a:prstGeom>
        </p:spPr>
      </p:pic>
      <p:pic>
        <p:nvPicPr>
          <p:cNvPr id="14" name="Picture 13">
            <a:extLst>
              <a:ext uri="{FF2B5EF4-FFF2-40B4-BE49-F238E27FC236}">
                <a16:creationId xmlns:a16="http://schemas.microsoft.com/office/drawing/2014/main" id="{DDB72073-F70A-BA63-FED4-D639EF8A2A80}"/>
              </a:ext>
            </a:extLst>
          </p:cNvPr>
          <p:cNvPicPr>
            <a:picLocks noChangeAspect="1"/>
          </p:cNvPicPr>
          <p:nvPr/>
        </p:nvPicPr>
        <p:blipFill>
          <a:blip r:embed="rId6"/>
          <a:stretch>
            <a:fillRect/>
          </a:stretch>
        </p:blipFill>
        <p:spPr>
          <a:xfrm>
            <a:off x="1066800" y="3429000"/>
            <a:ext cx="2400300" cy="409575"/>
          </a:xfrm>
          <a:prstGeom prst="rect">
            <a:avLst/>
          </a:prstGeom>
        </p:spPr>
      </p:pic>
      <p:pic>
        <p:nvPicPr>
          <p:cNvPr id="16" name="Picture 15">
            <a:extLst>
              <a:ext uri="{FF2B5EF4-FFF2-40B4-BE49-F238E27FC236}">
                <a16:creationId xmlns:a16="http://schemas.microsoft.com/office/drawing/2014/main" id="{C0E9E1DF-ED00-56E1-4DB5-A1CEB37D4B65}"/>
              </a:ext>
            </a:extLst>
          </p:cNvPr>
          <p:cNvPicPr>
            <a:picLocks noChangeAspect="1"/>
          </p:cNvPicPr>
          <p:nvPr/>
        </p:nvPicPr>
        <p:blipFill>
          <a:blip r:embed="rId7"/>
          <a:stretch>
            <a:fillRect/>
          </a:stretch>
        </p:blipFill>
        <p:spPr>
          <a:xfrm>
            <a:off x="1143000" y="1524000"/>
            <a:ext cx="7143750" cy="1924050"/>
          </a:xfrm>
          <a:prstGeom prst="rect">
            <a:avLst/>
          </a:prstGeom>
        </p:spPr>
      </p:pic>
      <p:pic>
        <p:nvPicPr>
          <p:cNvPr id="18" name="Picture 17">
            <a:extLst>
              <a:ext uri="{FF2B5EF4-FFF2-40B4-BE49-F238E27FC236}">
                <a16:creationId xmlns:a16="http://schemas.microsoft.com/office/drawing/2014/main" id="{653F6E77-D598-D5D7-9CF0-84F094A43F32}"/>
              </a:ext>
            </a:extLst>
          </p:cNvPr>
          <p:cNvPicPr>
            <a:picLocks noChangeAspect="1"/>
          </p:cNvPicPr>
          <p:nvPr/>
        </p:nvPicPr>
        <p:blipFill>
          <a:blip r:embed="rId8"/>
          <a:stretch>
            <a:fillRect/>
          </a:stretch>
        </p:blipFill>
        <p:spPr>
          <a:xfrm>
            <a:off x="1143000" y="1096296"/>
            <a:ext cx="3190875" cy="428625"/>
          </a:xfrm>
          <a:prstGeom prst="rect">
            <a:avLst/>
          </a:prstGeom>
        </p:spPr>
      </p:pic>
    </p:spTree>
    <p:extLst>
      <p:ext uri="{BB962C8B-B14F-4D97-AF65-F5344CB8AC3E}">
        <p14:creationId xmlns:p14="http://schemas.microsoft.com/office/powerpoint/2010/main" val="3886447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F8398-6BD5-D4FA-7080-037056BE11A0}"/>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A4C5F8D-8DCF-B6C3-16B8-C17402CC66A4}"/>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3AC82563-86A8-3DE6-7CD6-420C7C13C502}"/>
              </a:ext>
            </a:extLst>
          </p:cNvPr>
          <p:cNvSpPr>
            <a:spLocks noGrp="1"/>
          </p:cNvSpPr>
          <p:nvPr>
            <p:ph type="sldNum" sz="quarter" idx="12"/>
          </p:nvPr>
        </p:nvSpPr>
        <p:spPr>
          <a:xfrm>
            <a:off x="5029200" y="6305550"/>
            <a:ext cx="457200" cy="476250"/>
          </a:xfrm>
        </p:spPr>
        <p:txBody>
          <a:bodyPr/>
          <a:lstStyle/>
          <a:p>
            <a:fld id="{348AA8EC-93FC-4A73-8ED3-9C6F6CB809D0}" type="slidenum">
              <a:rPr lang="en-US" smtClean="0"/>
              <a:t>22</a:t>
            </a:fld>
            <a:endParaRPr lang="en-US"/>
          </a:p>
        </p:txBody>
      </p:sp>
      <p:pic>
        <p:nvPicPr>
          <p:cNvPr id="7" name="Picture 3">
            <a:extLst>
              <a:ext uri="{FF2B5EF4-FFF2-40B4-BE49-F238E27FC236}">
                <a16:creationId xmlns:a16="http://schemas.microsoft.com/office/drawing/2014/main" id="{5FA58D1A-9A9F-2B16-C762-342793CD6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3B16856E-6730-2086-28D6-D80EEF460018}"/>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2" name="Slide Number Placeholder 5">
            <a:extLst>
              <a:ext uri="{FF2B5EF4-FFF2-40B4-BE49-F238E27FC236}">
                <a16:creationId xmlns:a16="http://schemas.microsoft.com/office/drawing/2014/main" id="{BA2B1122-24FF-037C-DF25-1F7CE95CEEDE}"/>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4" name="Picture 3">
            <a:extLst>
              <a:ext uri="{FF2B5EF4-FFF2-40B4-BE49-F238E27FC236}">
                <a16:creationId xmlns:a16="http://schemas.microsoft.com/office/drawing/2014/main" id="{6EA8E63D-1566-5B3F-8CC3-B7B36EB25956}"/>
              </a:ext>
            </a:extLst>
          </p:cNvPr>
          <p:cNvPicPr>
            <a:picLocks noChangeAspect="1"/>
          </p:cNvPicPr>
          <p:nvPr/>
        </p:nvPicPr>
        <p:blipFill>
          <a:blip r:embed="rId5"/>
          <a:stretch>
            <a:fillRect/>
          </a:stretch>
        </p:blipFill>
        <p:spPr>
          <a:xfrm>
            <a:off x="1066800" y="990600"/>
            <a:ext cx="8001000" cy="2438400"/>
          </a:xfrm>
          <a:prstGeom prst="rect">
            <a:avLst/>
          </a:prstGeom>
        </p:spPr>
      </p:pic>
      <p:pic>
        <p:nvPicPr>
          <p:cNvPr id="10" name="Picture 9">
            <a:extLst>
              <a:ext uri="{FF2B5EF4-FFF2-40B4-BE49-F238E27FC236}">
                <a16:creationId xmlns:a16="http://schemas.microsoft.com/office/drawing/2014/main" id="{7AD90855-0743-86D2-4290-A0F53CB76528}"/>
              </a:ext>
            </a:extLst>
          </p:cNvPr>
          <p:cNvPicPr>
            <a:picLocks noChangeAspect="1"/>
          </p:cNvPicPr>
          <p:nvPr/>
        </p:nvPicPr>
        <p:blipFill>
          <a:blip r:embed="rId6"/>
          <a:stretch>
            <a:fillRect/>
          </a:stretch>
        </p:blipFill>
        <p:spPr>
          <a:xfrm>
            <a:off x="1066799" y="3505200"/>
            <a:ext cx="8001001" cy="2743200"/>
          </a:xfrm>
          <a:prstGeom prst="rect">
            <a:avLst/>
          </a:prstGeom>
        </p:spPr>
      </p:pic>
    </p:spTree>
    <p:extLst>
      <p:ext uri="{BB962C8B-B14F-4D97-AF65-F5344CB8AC3E}">
        <p14:creationId xmlns:p14="http://schemas.microsoft.com/office/powerpoint/2010/main" val="259772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53B6533-8CA5-972F-A617-746A0683E6FB}"/>
              </a:ext>
            </a:extLst>
          </p:cNvPr>
          <p:cNvSpPr>
            <a:spLocks noGrp="1"/>
          </p:cNvSpPr>
          <p:nvPr>
            <p:ph type="ftr" sz="quarter" idx="11"/>
          </p:nvPr>
        </p:nvSpPr>
        <p:spPr>
          <a:xfrm>
            <a:off x="1066800" y="6381750"/>
            <a:ext cx="2895600" cy="476250"/>
          </a:xfrm>
        </p:spPr>
        <p:txBody>
          <a:bodyPr/>
          <a:lstStyle/>
          <a:p>
            <a:r>
              <a:rPr lang="en-US"/>
              <a:t>PREDICTIVE ANALYTICS ON TWITTER SENTIMENT DATA</a:t>
            </a:r>
          </a:p>
        </p:txBody>
      </p:sp>
      <p:sp>
        <p:nvSpPr>
          <p:cNvPr id="6" name="Slide Number Placeholder 5">
            <a:extLst>
              <a:ext uri="{FF2B5EF4-FFF2-40B4-BE49-F238E27FC236}">
                <a16:creationId xmlns:a16="http://schemas.microsoft.com/office/drawing/2014/main" id="{CDA640E4-AFCF-B88E-431D-4E32543BEA52}"/>
              </a:ext>
            </a:extLst>
          </p:cNvPr>
          <p:cNvSpPr>
            <a:spLocks noGrp="1"/>
          </p:cNvSpPr>
          <p:nvPr>
            <p:ph type="sldNum" sz="quarter" idx="12"/>
          </p:nvPr>
        </p:nvSpPr>
        <p:spPr>
          <a:xfrm>
            <a:off x="4876800" y="6305550"/>
            <a:ext cx="457200" cy="476250"/>
          </a:xfrm>
        </p:spPr>
        <p:txBody>
          <a:bodyPr/>
          <a:lstStyle/>
          <a:p>
            <a:fld id="{348AA8EC-93FC-4A73-8ED3-9C6F6CB809D0}" type="slidenum">
              <a:rPr lang="en-US" smtClean="0"/>
              <a:t>23</a:t>
            </a:fld>
            <a:endParaRPr lang="en-US"/>
          </a:p>
        </p:txBody>
      </p:sp>
      <p:pic>
        <p:nvPicPr>
          <p:cNvPr id="7" name="Picture 3">
            <a:extLst>
              <a:ext uri="{FF2B5EF4-FFF2-40B4-BE49-F238E27FC236}">
                <a16:creationId xmlns:a16="http://schemas.microsoft.com/office/drawing/2014/main" id="{B72F2872-FE12-DCC6-0351-2E564EBC2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DBB05EA0-9663-A44E-D753-41A6BF2954A6}"/>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9" name="TextBox 8">
            <a:extLst>
              <a:ext uri="{FF2B5EF4-FFF2-40B4-BE49-F238E27FC236}">
                <a16:creationId xmlns:a16="http://schemas.microsoft.com/office/drawing/2014/main" id="{BC1E9307-5E98-F7CE-49FC-8ADCEC7F204C}"/>
              </a:ext>
            </a:extLst>
          </p:cNvPr>
          <p:cNvSpPr txBox="1"/>
          <p:nvPr/>
        </p:nvSpPr>
        <p:spPr>
          <a:xfrm>
            <a:off x="1219200" y="933451"/>
            <a:ext cx="6858000" cy="67710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Outcomes:</a:t>
            </a:r>
          </a:p>
          <a:p>
            <a:endParaRPr lang="en-IN" dirty="0"/>
          </a:p>
        </p:txBody>
      </p:sp>
      <p:sp>
        <p:nvSpPr>
          <p:cNvPr id="2" name="Slide Number Placeholder 5">
            <a:extLst>
              <a:ext uri="{FF2B5EF4-FFF2-40B4-BE49-F238E27FC236}">
                <a16:creationId xmlns:a16="http://schemas.microsoft.com/office/drawing/2014/main" id="{7E0D09D9-FF8B-2B7E-EC16-B955B1757E4A}"/>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pic>
        <p:nvPicPr>
          <p:cNvPr id="4" name="Picture 3">
            <a:extLst>
              <a:ext uri="{FF2B5EF4-FFF2-40B4-BE49-F238E27FC236}">
                <a16:creationId xmlns:a16="http://schemas.microsoft.com/office/drawing/2014/main" id="{77C549BA-A4E3-C40B-1673-B5AFBE31FC8C}"/>
              </a:ext>
            </a:extLst>
          </p:cNvPr>
          <p:cNvPicPr>
            <a:picLocks noChangeAspect="1"/>
          </p:cNvPicPr>
          <p:nvPr/>
        </p:nvPicPr>
        <p:blipFill>
          <a:blip r:embed="rId5"/>
          <a:stretch>
            <a:fillRect/>
          </a:stretch>
        </p:blipFill>
        <p:spPr>
          <a:xfrm>
            <a:off x="1447800" y="1371600"/>
            <a:ext cx="7239000" cy="5029200"/>
          </a:xfrm>
          <a:prstGeom prst="rect">
            <a:avLst/>
          </a:prstGeom>
        </p:spPr>
      </p:pic>
    </p:spTree>
    <p:extLst>
      <p:ext uri="{BB962C8B-B14F-4D97-AF65-F5344CB8AC3E}">
        <p14:creationId xmlns:p14="http://schemas.microsoft.com/office/powerpoint/2010/main" val="2329065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2FA8526-9A8C-518F-32F4-9E02ED8654E2}"/>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F538B003-436A-CBE6-2EBA-97CE5FECD4FC}"/>
              </a:ext>
            </a:extLst>
          </p:cNvPr>
          <p:cNvSpPr>
            <a:spLocks noGrp="1"/>
          </p:cNvSpPr>
          <p:nvPr>
            <p:ph type="sldNum" sz="quarter" idx="12"/>
          </p:nvPr>
        </p:nvSpPr>
        <p:spPr>
          <a:xfrm>
            <a:off x="4800600" y="6305550"/>
            <a:ext cx="457200" cy="476250"/>
          </a:xfrm>
        </p:spPr>
        <p:txBody>
          <a:bodyPr/>
          <a:lstStyle/>
          <a:p>
            <a:fld id="{348AA8EC-93FC-4A73-8ED3-9C6F6CB809D0}" type="slidenum">
              <a:rPr lang="en-US" smtClean="0"/>
              <a:t>24</a:t>
            </a:fld>
            <a:endParaRPr lang="en-US" dirty="0"/>
          </a:p>
        </p:txBody>
      </p:sp>
      <p:pic>
        <p:nvPicPr>
          <p:cNvPr id="7" name="Picture 3">
            <a:extLst>
              <a:ext uri="{FF2B5EF4-FFF2-40B4-BE49-F238E27FC236}">
                <a16:creationId xmlns:a16="http://schemas.microsoft.com/office/drawing/2014/main" id="{93B9A211-AFA9-0BD1-1F69-67DC48F427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FC544324-005F-743B-0894-3567AA3F0A57}"/>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pic>
        <p:nvPicPr>
          <p:cNvPr id="10" name="Picture 9" descr="A group of colorful graphs">
            <a:extLst>
              <a:ext uri="{FF2B5EF4-FFF2-40B4-BE49-F238E27FC236}">
                <a16:creationId xmlns:a16="http://schemas.microsoft.com/office/drawing/2014/main" id="{29D9C532-9827-36C5-55AB-22437CCD54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47800" y="1371600"/>
            <a:ext cx="7010400" cy="4648200"/>
          </a:xfrm>
          <a:prstGeom prst="rect">
            <a:avLst/>
          </a:prstGeom>
        </p:spPr>
      </p:pic>
      <p:sp>
        <p:nvSpPr>
          <p:cNvPr id="11" name="TextBox 10">
            <a:extLst>
              <a:ext uri="{FF2B5EF4-FFF2-40B4-BE49-F238E27FC236}">
                <a16:creationId xmlns:a16="http://schemas.microsoft.com/office/drawing/2014/main" id="{0DA7C154-89DB-3487-6615-A62874A2E56E}"/>
              </a:ext>
            </a:extLst>
          </p:cNvPr>
          <p:cNvSpPr txBox="1"/>
          <p:nvPr/>
        </p:nvSpPr>
        <p:spPr>
          <a:xfrm>
            <a:off x="1447800" y="1002268"/>
            <a:ext cx="2514600" cy="369332"/>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Model Comparison</a:t>
            </a:r>
            <a:endParaRPr lang="en-IN" b="1" dirty="0">
              <a:effectLst>
                <a:outerShdw blurRad="38100" dist="38100" dir="2700000" algn="tl">
                  <a:srgbClr val="000000">
                    <a:alpha val="43137"/>
                  </a:srgbClr>
                </a:outerShdw>
              </a:effectLst>
            </a:endParaRPr>
          </a:p>
        </p:txBody>
      </p:sp>
      <p:sp>
        <p:nvSpPr>
          <p:cNvPr id="2" name="Slide Number Placeholder 5">
            <a:extLst>
              <a:ext uri="{FF2B5EF4-FFF2-40B4-BE49-F238E27FC236}">
                <a16:creationId xmlns:a16="http://schemas.microsoft.com/office/drawing/2014/main" id="{5276AA99-6D79-4B3D-15A1-22FE046A99F1}"/>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1402694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8FF5DB8-3B73-71A5-BFAF-D4A0B1A79BCC}"/>
              </a:ext>
            </a:extLst>
          </p:cNvPr>
          <p:cNvSpPr>
            <a:spLocks noGrp="1"/>
          </p:cNvSpPr>
          <p:nvPr>
            <p:ph type="ftr" sz="quarter" idx="11"/>
          </p:nvPr>
        </p:nvSpPr>
        <p:spPr>
          <a:xfrm>
            <a:off x="1066800" y="63055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82A870E0-383C-F41E-4004-277CD8BF6946}"/>
              </a:ext>
            </a:extLst>
          </p:cNvPr>
          <p:cNvSpPr>
            <a:spLocks noGrp="1"/>
          </p:cNvSpPr>
          <p:nvPr>
            <p:ph type="sldNum" sz="quarter" idx="12"/>
          </p:nvPr>
        </p:nvSpPr>
        <p:spPr>
          <a:xfrm>
            <a:off x="4953000" y="6305550"/>
            <a:ext cx="457200" cy="476250"/>
          </a:xfrm>
        </p:spPr>
        <p:txBody>
          <a:bodyPr/>
          <a:lstStyle/>
          <a:p>
            <a:fld id="{348AA8EC-93FC-4A73-8ED3-9C6F6CB809D0}" type="slidenum">
              <a:rPr lang="en-US" smtClean="0"/>
              <a:t>25</a:t>
            </a:fld>
            <a:endParaRPr lang="en-US"/>
          </a:p>
        </p:txBody>
      </p:sp>
      <p:pic>
        <p:nvPicPr>
          <p:cNvPr id="7" name="Picture 3">
            <a:extLst>
              <a:ext uri="{FF2B5EF4-FFF2-40B4-BE49-F238E27FC236}">
                <a16:creationId xmlns:a16="http://schemas.microsoft.com/office/drawing/2014/main" id="{F3989322-CCF8-4AA9-0963-C4DC254F4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86E7EA83-DCC5-6CF7-5C43-5EB395E3D5F4}"/>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sp>
        <p:nvSpPr>
          <p:cNvPr id="9" name="TextBox 8">
            <a:extLst>
              <a:ext uri="{FF2B5EF4-FFF2-40B4-BE49-F238E27FC236}">
                <a16:creationId xmlns:a16="http://schemas.microsoft.com/office/drawing/2014/main" id="{961AD811-97ED-7A19-2239-5F6394E1CF39}"/>
              </a:ext>
            </a:extLst>
          </p:cNvPr>
          <p:cNvSpPr txBox="1"/>
          <p:nvPr/>
        </p:nvSpPr>
        <p:spPr>
          <a:xfrm>
            <a:off x="1447800" y="933451"/>
            <a:ext cx="2959785"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Confusion Matrix Analysis</a:t>
            </a:r>
            <a:endParaRPr lang="en-IN" b="1" dirty="0">
              <a:effectLst>
                <a:outerShdw blurRad="38100" dist="38100" dir="2700000" algn="tl">
                  <a:srgbClr val="000000">
                    <a:alpha val="43137"/>
                  </a:srgbClr>
                </a:outerShdw>
              </a:effectLst>
            </a:endParaRPr>
          </a:p>
        </p:txBody>
      </p:sp>
      <p:pic>
        <p:nvPicPr>
          <p:cNvPr id="11" name="Picture 10" descr="A graph with numbers and squares&#10;&#10;AI-generated content may be incorrect.">
            <a:extLst>
              <a:ext uri="{FF2B5EF4-FFF2-40B4-BE49-F238E27FC236}">
                <a16:creationId xmlns:a16="http://schemas.microsoft.com/office/drawing/2014/main" id="{075899CA-99A9-26A8-1A1D-75E6D047B9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9200" y="1321834"/>
            <a:ext cx="7391400" cy="4850371"/>
          </a:xfrm>
          <a:prstGeom prst="rect">
            <a:avLst/>
          </a:prstGeom>
        </p:spPr>
      </p:pic>
      <p:sp>
        <p:nvSpPr>
          <p:cNvPr id="2" name="Slide Number Placeholder 5">
            <a:extLst>
              <a:ext uri="{FF2B5EF4-FFF2-40B4-BE49-F238E27FC236}">
                <a16:creationId xmlns:a16="http://schemas.microsoft.com/office/drawing/2014/main" id="{CE089560-110B-F5AF-4162-8B7B7A8DB5F6}"/>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3428708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E32231E-66B7-21A9-7298-7699EC416700}"/>
              </a:ext>
            </a:extLst>
          </p:cNvPr>
          <p:cNvSpPr>
            <a:spLocks noGrp="1"/>
          </p:cNvSpPr>
          <p:nvPr>
            <p:ph type="ftr" sz="quarter" idx="11"/>
          </p:nvPr>
        </p:nvSpPr>
        <p:spPr>
          <a:xfrm>
            <a:off x="990600" y="6381750"/>
            <a:ext cx="2895600" cy="476250"/>
          </a:xfrm>
        </p:spPr>
        <p:txBody>
          <a:bodyPr/>
          <a:lstStyle/>
          <a:p>
            <a:r>
              <a:rPr lang="en-US" dirty="0"/>
              <a:t>PREDICTIVE ANALYTICS ON TWITTER SENTIMENT DATA</a:t>
            </a:r>
          </a:p>
        </p:txBody>
      </p:sp>
      <p:sp>
        <p:nvSpPr>
          <p:cNvPr id="6" name="Slide Number Placeholder 5">
            <a:extLst>
              <a:ext uri="{FF2B5EF4-FFF2-40B4-BE49-F238E27FC236}">
                <a16:creationId xmlns:a16="http://schemas.microsoft.com/office/drawing/2014/main" id="{BE585722-5127-A248-A2E6-E933BA5E2B3B}"/>
              </a:ext>
            </a:extLst>
          </p:cNvPr>
          <p:cNvSpPr>
            <a:spLocks noGrp="1"/>
          </p:cNvSpPr>
          <p:nvPr>
            <p:ph type="sldNum" sz="quarter" idx="12"/>
          </p:nvPr>
        </p:nvSpPr>
        <p:spPr>
          <a:xfrm>
            <a:off x="4724400" y="6305550"/>
            <a:ext cx="457200" cy="476250"/>
          </a:xfrm>
        </p:spPr>
        <p:txBody>
          <a:bodyPr/>
          <a:lstStyle/>
          <a:p>
            <a:fld id="{348AA8EC-93FC-4A73-8ED3-9C6F6CB809D0}" type="slidenum">
              <a:rPr lang="en-US" smtClean="0"/>
              <a:t>26</a:t>
            </a:fld>
            <a:endParaRPr lang="en-US" dirty="0"/>
          </a:p>
        </p:txBody>
      </p:sp>
      <p:pic>
        <p:nvPicPr>
          <p:cNvPr id="7" name="Picture 3">
            <a:extLst>
              <a:ext uri="{FF2B5EF4-FFF2-40B4-BE49-F238E27FC236}">
                <a16:creationId xmlns:a16="http://schemas.microsoft.com/office/drawing/2014/main" id="{4D91AA8F-6BFC-0600-3FCF-AD6DB5733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0"/>
            <a:ext cx="1268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Image result for knsit logo">
            <a:hlinkClick r:id="rId3"/>
            <a:extLst>
              <a:ext uri="{FF2B5EF4-FFF2-40B4-BE49-F238E27FC236}">
                <a16:creationId xmlns:a16="http://schemas.microsoft.com/office/drawing/2014/main" id="{2F781911-8FAB-6480-5127-A36A1CBE69D8}"/>
              </a:ext>
            </a:extLst>
          </p:cNvPr>
          <p:cNvPicPr>
            <a:picLocks noChangeAspect="1" noChangeArrowheads="1"/>
          </p:cNvPicPr>
          <p:nvPr/>
        </p:nvPicPr>
        <p:blipFill>
          <a:blip r:embed="rId4"/>
          <a:srcRect/>
          <a:stretch>
            <a:fillRect/>
          </a:stretch>
        </p:blipFill>
        <p:spPr bwMode="auto">
          <a:xfrm>
            <a:off x="8077200" y="76200"/>
            <a:ext cx="962025" cy="857251"/>
          </a:xfrm>
          <a:prstGeom prst="rect">
            <a:avLst/>
          </a:prstGeom>
          <a:noFill/>
        </p:spPr>
      </p:pic>
      <p:graphicFrame>
        <p:nvGraphicFramePr>
          <p:cNvPr id="14" name="Table 13">
            <a:extLst>
              <a:ext uri="{FF2B5EF4-FFF2-40B4-BE49-F238E27FC236}">
                <a16:creationId xmlns:a16="http://schemas.microsoft.com/office/drawing/2014/main" id="{19919EB2-A604-7A44-D7B9-E7F76B92C6B7}"/>
              </a:ext>
            </a:extLst>
          </p:cNvPr>
          <p:cNvGraphicFramePr>
            <a:graphicFrameLocks noGrp="1"/>
          </p:cNvGraphicFramePr>
          <p:nvPr>
            <p:extLst>
              <p:ext uri="{D42A27DB-BD31-4B8C-83A1-F6EECF244321}">
                <p14:modId xmlns:p14="http://schemas.microsoft.com/office/powerpoint/2010/main" val="1394550040"/>
              </p:ext>
            </p:extLst>
          </p:nvPr>
        </p:nvGraphicFramePr>
        <p:xfrm>
          <a:off x="1371600" y="1000761"/>
          <a:ext cx="7010400" cy="5260824"/>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546037388"/>
                    </a:ext>
                  </a:extLst>
                </a:gridCol>
                <a:gridCol w="3505200">
                  <a:extLst>
                    <a:ext uri="{9D8B030D-6E8A-4147-A177-3AD203B41FA5}">
                      <a16:colId xmlns:a16="http://schemas.microsoft.com/office/drawing/2014/main" val="2882322934"/>
                    </a:ext>
                  </a:extLst>
                </a:gridCol>
              </a:tblGrid>
              <a:tr h="6158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Advantages:</a:t>
                      </a:r>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Disadvantages:</a:t>
                      </a:r>
                    </a:p>
                    <a:p>
                      <a:pPr algn="ctr"/>
                      <a:endParaRPr lang="en-IN" dirty="0"/>
                    </a:p>
                  </a:txBody>
                  <a:tcPr/>
                </a:tc>
                <a:extLst>
                  <a:ext uri="{0D108BD9-81ED-4DB2-BD59-A6C34878D82A}">
                    <a16:rowId xmlns:a16="http://schemas.microsoft.com/office/drawing/2014/main" val="264018242"/>
                  </a:ext>
                </a:extLst>
              </a:tr>
              <a:tr h="1648944">
                <a:tc>
                  <a:txBody>
                    <a:bodyPr/>
                    <a:lstStyle/>
                    <a:p>
                      <a:pPr marL="82550" indent="0" algn="just">
                        <a:buFont typeface="Wingdings 2" panose="05020102010507070707"/>
                        <a:buNone/>
                      </a:pPr>
                      <a:r>
                        <a:rPr lang="en-US" sz="1500" b="1" dirty="0">
                          <a:latin typeface="Times New Roman" panose="02020603050405020304" pitchFamily="18" charset="0"/>
                          <a:cs typeface="Times New Roman" panose="02020603050405020304" pitchFamily="18" charset="0"/>
                        </a:rPr>
                        <a:t>Real-Time Feedback</a:t>
                      </a:r>
                      <a:endParaRPr lang="en-US" sz="1500" dirty="0">
                        <a:latin typeface="Times New Roman" panose="02020603050405020304" pitchFamily="18" charset="0"/>
                        <a:cs typeface="Times New Roman" panose="02020603050405020304" pitchFamily="18" charset="0"/>
                      </a:endParaRPr>
                    </a:p>
                    <a:p>
                      <a:pPr marL="82550" indent="0" algn="just">
                        <a:buFont typeface="Wingdings 2" panose="05020102010507070707"/>
                        <a:buNone/>
                      </a:pPr>
                      <a:r>
                        <a:rPr lang="en-US" sz="1500" dirty="0">
                          <a:latin typeface="Times New Roman" panose="02020603050405020304" pitchFamily="18" charset="0"/>
                          <a:cs typeface="Times New Roman" panose="02020603050405020304" pitchFamily="18" charset="0"/>
                        </a:rPr>
                        <a:t>Enables organizations to monitor public sentiment instantly.</a:t>
                      </a:r>
                    </a:p>
                    <a:p>
                      <a:pPr marL="82550" indent="0" algn="just">
                        <a:buFont typeface="Wingdings 2" panose="05020102010507070707"/>
                        <a:buNone/>
                      </a:pPr>
                      <a:r>
                        <a:rPr lang="en-US" sz="1500" dirty="0">
                          <a:latin typeface="Times New Roman" panose="02020603050405020304" pitchFamily="18" charset="0"/>
                          <a:cs typeface="Times New Roman" panose="02020603050405020304" pitchFamily="18" charset="0"/>
                        </a:rPr>
                        <a:t>Useful for crisis management, product launches, and campaign tracking.</a:t>
                      </a:r>
                    </a:p>
                    <a:p>
                      <a:endParaRPr lang="en-IN" dirty="0"/>
                    </a:p>
                  </a:txBody>
                  <a:tcPr/>
                </a:tc>
                <a:tc>
                  <a:txBody>
                    <a:bodyPr/>
                    <a:lstStyle/>
                    <a:p>
                      <a:pPr marL="82550" indent="0" algn="just">
                        <a:buFont typeface="Wingdings 2" panose="05020102010507070707"/>
                        <a:buNone/>
                      </a:pPr>
                      <a:r>
                        <a:rPr lang="en-US" sz="1500" b="1" u="none" dirty="0">
                          <a:solidFill>
                            <a:schemeClr val="tx1"/>
                          </a:solidFill>
                          <a:latin typeface="Times New Roman" panose="02020603050405020304" pitchFamily="18" charset="0"/>
                          <a:cs typeface="Times New Roman" panose="02020603050405020304" pitchFamily="18" charset="0"/>
                        </a:rPr>
                        <a:t>Ambiguous language</a:t>
                      </a:r>
                    </a:p>
                    <a:p>
                      <a:pPr marL="82550" indent="0" algn="just">
                        <a:buFont typeface="Wingdings 2" panose="05020102010507070707"/>
                        <a:buNone/>
                      </a:pPr>
                      <a:r>
                        <a:rPr lang="en-US" sz="1500" u="none" dirty="0">
                          <a:solidFill>
                            <a:schemeClr val="tx1"/>
                          </a:solidFill>
                          <a:latin typeface="Times New Roman" panose="02020603050405020304" pitchFamily="18" charset="0"/>
                          <a:cs typeface="Times New Roman" panose="02020603050405020304" pitchFamily="18" charset="0"/>
                        </a:rPr>
                        <a:t>Words can carry multiple meanings depending on context, making it hard for algorithms to assign correct sentiment labels</a:t>
                      </a:r>
                    </a:p>
                  </a:txBody>
                  <a:tcPr/>
                </a:tc>
                <a:extLst>
                  <a:ext uri="{0D108BD9-81ED-4DB2-BD59-A6C34878D82A}">
                    <a16:rowId xmlns:a16="http://schemas.microsoft.com/office/drawing/2014/main" val="988050538"/>
                  </a:ext>
                </a:extLst>
              </a:tr>
              <a:tr h="1671676">
                <a:tc>
                  <a:txBody>
                    <a:bodyPr/>
                    <a:lstStyle/>
                    <a:p>
                      <a:pPr marL="82550" indent="0" algn="just">
                        <a:buFont typeface="Wingdings 2" panose="05020102010507070707"/>
                        <a:buNone/>
                      </a:pPr>
                      <a:r>
                        <a:rPr lang="en-US" sz="1500" b="1" dirty="0">
                          <a:latin typeface="Times New Roman" panose="02020603050405020304" pitchFamily="18" charset="0"/>
                          <a:cs typeface="Times New Roman" panose="02020603050405020304" pitchFamily="18" charset="0"/>
                        </a:rPr>
                        <a:t>Scalable Insights</a:t>
                      </a:r>
                      <a:endParaRPr lang="en-US" sz="1500" dirty="0">
                        <a:latin typeface="Times New Roman" panose="02020603050405020304" pitchFamily="18" charset="0"/>
                        <a:cs typeface="Times New Roman" panose="02020603050405020304" pitchFamily="18" charset="0"/>
                      </a:endParaRPr>
                    </a:p>
                    <a:p>
                      <a:pPr marL="82550" indent="0" algn="just">
                        <a:buFont typeface="Wingdings 2" panose="05020102010507070707"/>
                        <a:buNone/>
                      </a:pPr>
                      <a:r>
                        <a:rPr lang="en-US" sz="1500" dirty="0">
                          <a:latin typeface="Times New Roman" panose="02020603050405020304" pitchFamily="18" charset="0"/>
                          <a:cs typeface="Times New Roman" panose="02020603050405020304" pitchFamily="18" charset="0"/>
                        </a:rPr>
                        <a:t>Analyzes thousands to millions of posts across platforms like Twitter, Facebook, Reddit.</a:t>
                      </a:r>
                    </a:p>
                    <a:p>
                      <a:pPr marL="82550" indent="0" algn="just">
                        <a:buFont typeface="Wingdings 2" panose="05020102010507070707"/>
                        <a:buNone/>
                      </a:pPr>
                      <a:r>
                        <a:rPr lang="en-US" sz="1500" dirty="0">
                          <a:latin typeface="Times New Roman" panose="02020603050405020304" pitchFamily="18" charset="0"/>
                          <a:cs typeface="Times New Roman" panose="02020603050405020304" pitchFamily="18" charset="0"/>
                        </a:rPr>
                        <a:t>Helps detect trends, emerging issues, or viral content quickly.</a:t>
                      </a:r>
                    </a:p>
                    <a:p>
                      <a:endParaRPr lang="en-IN" dirty="0"/>
                    </a:p>
                  </a:txBody>
                  <a:tcPr/>
                </a:tc>
                <a:tc>
                  <a:txBody>
                    <a:bodyPr/>
                    <a:lstStyle/>
                    <a:p>
                      <a:pPr marL="82550" indent="0">
                        <a:buFont typeface="Wingdings 2" panose="05020102010507070707"/>
                        <a:buNone/>
                      </a:pPr>
                      <a:r>
                        <a:rPr lang="en-US" sz="1500" b="1" dirty="0">
                          <a:latin typeface="Times New Roman" panose="02020603050405020304" pitchFamily="18" charset="0"/>
                          <a:cs typeface="Times New Roman" panose="02020603050405020304" pitchFamily="18" charset="0"/>
                        </a:rPr>
                        <a:t>Data Noise</a:t>
                      </a:r>
                      <a:endParaRPr lang="en-US" sz="1500" dirty="0">
                        <a:latin typeface="Times New Roman" panose="02020603050405020304" pitchFamily="18" charset="0"/>
                        <a:cs typeface="Times New Roman" panose="02020603050405020304" pitchFamily="18" charset="0"/>
                      </a:endParaRPr>
                    </a:p>
                    <a:p>
                      <a:pPr marL="82550" indent="0">
                        <a:buFont typeface="Wingdings 2" panose="05020102010507070707"/>
                        <a:buNone/>
                      </a:pPr>
                      <a:r>
                        <a:rPr lang="en-US" sz="1500" dirty="0">
                          <a:latin typeface="Times New Roman" panose="02020603050405020304" pitchFamily="18" charset="0"/>
                          <a:cs typeface="Times New Roman" panose="02020603050405020304" pitchFamily="18" charset="0"/>
                        </a:rPr>
                        <a:t>Social media data is messy—includes spam, irrelevant content, and bot activity.</a:t>
                      </a:r>
                    </a:p>
                    <a:p>
                      <a:pPr marL="82550" indent="0">
                        <a:buFont typeface="Wingdings 2" panose="05020102010507070707"/>
                        <a:buNone/>
                      </a:pPr>
                      <a:r>
                        <a:rPr lang="en-US" sz="1500" dirty="0">
                          <a:latin typeface="Times New Roman" panose="02020603050405020304" pitchFamily="18" charset="0"/>
                          <a:cs typeface="Times New Roman" panose="02020603050405020304" pitchFamily="18" charset="0"/>
                        </a:rPr>
                        <a:t>Requires extensive preprocessing to ensure quality analysis.</a:t>
                      </a:r>
                    </a:p>
                    <a:p>
                      <a:endParaRPr lang="en-IN" dirty="0"/>
                    </a:p>
                  </a:txBody>
                  <a:tcPr/>
                </a:tc>
                <a:extLst>
                  <a:ext uri="{0D108BD9-81ED-4DB2-BD59-A6C34878D82A}">
                    <a16:rowId xmlns:a16="http://schemas.microsoft.com/office/drawing/2014/main" val="2416639711"/>
                  </a:ext>
                </a:extLst>
              </a:tr>
              <a:tr h="1187770">
                <a:tc>
                  <a:txBody>
                    <a:bodyPr/>
                    <a:lstStyle/>
                    <a:p>
                      <a:pPr marL="82550" indent="0" algn="just">
                        <a:buFont typeface="Wingdings 2" panose="05020102010507070707"/>
                        <a:buNone/>
                      </a:pPr>
                      <a:r>
                        <a:rPr lang="en-US" sz="1500" b="1" dirty="0">
                          <a:latin typeface="Times New Roman" panose="02020603050405020304" pitchFamily="18" charset="0"/>
                          <a:cs typeface="Times New Roman" panose="02020603050405020304" pitchFamily="18" charset="0"/>
                        </a:rPr>
                        <a:t>Business Intelligence</a:t>
                      </a:r>
                      <a:endParaRPr lang="en-US" sz="1500" dirty="0">
                        <a:latin typeface="Times New Roman" panose="02020603050405020304" pitchFamily="18" charset="0"/>
                        <a:cs typeface="Times New Roman" panose="02020603050405020304" pitchFamily="18" charset="0"/>
                      </a:endParaRPr>
                    </a:p>
                    <a:p>
                      <a:pPr marL="82550" indent="0" algn="just">
                        <a:buFont typeface="Wingdings 2" panose="05020102010507070707"/>
                        <a:buNone/>
                      </a:pPr>
                      <a:r>
                        <a:rPr lang="en-US" sz="1500" dirty="0">
                          <a:latin typeface="Times New Roman" panose="02020603050405020304" pitchFamily="18" charset="0"/>
                          <a:cs typeface="Times New Roman" panose="02020603050405020304" pitchFamily="18" charset="0"/>
                        </a:rPr>
                        <a:t>Supports marketing, customer service, and product development by understanding user emotions.</a:t>
                      </a:r>
                    </a:p>
                    <a:p>
                      <a:endParaRPr lang="en-IN" sz="1500" dirty="0"/>
                    </a:p>
                  </a:txBody>
                  <a:tcPr/>
                </a:tc>
                <a:tc>
                  <a:txBody>
                    <a:bodyPr/>
                    <a:lstStyle/>
                    <a:p>
                      <a:pPr marL="82550" indent="0">
                        <a:buFont typeface="Wingdings 2" panose="05020102010507070707"/>
                        <a:buNone/>
                      </a:pPr>
                      <a:r>
                        <a:rPr lang="en-US" sz="1500" b="1" dirty="0">
                          <a:latin typeface="Times New Roman" panose="02020603050405020304" pitchFamily="18" charset="0"/>
                          <a:cs typeface="Times New Roman" panose="02020603050405020304" pitchFamily="18" charset="0"/>
                        </a:rPr>
                        <a:t>Bias and Inaccuracy</a:t>
                      </a:r>
                      <a:endParaRPr lang="en-US" sz="1500" dirty="0">
                        <a:latin typeface="Times New Roman" panose="02020603050405020304" pitchFamily="18" charset="0"/>
                        <a:cs typeface="Times New Roman" panose="02020603050405020304" pitchFamily="18" charset="0"/>
                      </a:endParaRPr>
                    </a:p>
                    <a:p>
                      <a:pPr marL="82550" indent="0">
                        <a:buFont typeface="Wingdings 2" panose="05020102010507070707"/>
                        <a:buNone/>
                      </a:pPr>
                      <a:r>
                        <a:rPr lang="en-US" sz="1500" dirty="0">
                          <a:latin typeface="Times New Roman" panose="02020603050405020304" pitchFamily="18" charset="0"/>
                          <a:cs typeface="Times New Roman" panose="02020603050405020304" pitchFamily="18" charset="0"/>
                        </a:rPr>
                        <a:t>Models may reflect biases present in training data.</a:t>
                      </a:r>
                    </a:p>
                    <a:p>
                      <a:endParaRPr lang="en-IN" sz="1500" dirty="0"/>
                    </a:p>
                  </a:txBody>
                  <a:tcPr/>
                </a:tc>
                <a:extLst>
                  <a:ext uri="{0D108BD9-81ED-4DB2-BD59-A6C34878D82A}">
                    <a16:rowId xmlns:a16="http://schemas.microsoft.com/office/drawing/2014/main" val="507036006"/>
                  </a:ext>
                </a:extLst>
              </a:tr>
            </a:tbl>
          </a:graphicData>
        </a:graphic>
      </p:graphicFrame>
      <p:sp>
        <p:nvSpPr>
          <p:cNvPr id="2" name="Slide Number Placeholder 5">
            <a:extLst>
              <a:ext uri="{FF2B5EF4-FFF2-40B4-BE49-F238E27FC236}">
                <a16:creationId xmlns:a16="http://schemas.microsoft.com/office/drawing/2014/main" id="{4CF407C6-B791-5B92-0D67-7FF84B7D623B}"/>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3119197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077200" cy="914400"/>
          </a:xfrm>
        </p:spPr>
        <p:txBody>
          <a:bodyPr>
            <a:normAutofit/>
          </a:bodyPr>
          <a:lstStyle/>
          <a:p>
            <a:pPr algn="ctr"/>
            <a:r>
              <a:rPr lang="en-US" sz="3600" dirty="0"/>
              <a:t>Applications</a:t>
            </a:r>
          </a:p>
        </p:txBody>
      </p:sp>
      <p:sp>
        <p:nvSpPr>
          <p:cNvPr id="3" name="Content Placeholder 2"/>
          <p:cNvSpPr>
            <a:spLocks noGrp="1"/>
          </p:cNvSpPr>
          <p:nvPr>
            <p:ph idx="1"/>
          </p:nvPr>
        </p:nvSpPr>
        <p:spPr>
          <a:xfrm>
            <a:off x="1066800" y="609600"/>
            <a:ext cx="7697470" cy="5638800"/>
          </a:xfrm>
        </p:spPr>
        <p:txBody>
          <a:bodyPr>
            <a:normAutofit fontScale="90000" lnSpcReduction="10000"/>
          </a:bodyPr>
          <a:lstStyle/>
          <a:p>
            <a:pPr algn="just">
              <a:buNone/>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2400" dirty="0">
              <a:latin typeface="+mj-lt"/>
              <a:cs typeface="Times New Roman" panose="02020603050405020304" pitchFamily="18" charset="0"/>
            </a:endParaRPr>
          </a:p>
          <a:p>
            <a:pPr marL="539750" indent="-457200" algn="just">
              <a:lnSpc>
                <a:spcPct val="150000"/>
              </a:lnSpc>
              <a:buClr>
                <a:srgbClr val="000000"/>
              </a:buClr>
              <a:buFont typeface="+mj-lt"/>
              <a:buAutoNum type="arabicPeriod"/>
            </a:pPr>
            <a:r>
              <a:rPr lang="en-US" sz="1900" b="1" dirty="0">
                <a:latin typeface="Times New Roman" panose="02020603050405020304" pitchFamily="18" charset="0"/>
                <a:cs typeface="Times New Roman" panose="02020603050405020304" pitchFamily="18" charset="0"/>
              </a:rPr>
              <a:t>Real-Time Public Opinion</a:t>
            </a:r>
            <a:r>
              <a:rPr lang="en-US" sz="1900" dirty="0">
                <a:latin typeface="Times New Roman" panose="02020603050405020304" pitchFamily="18" charset="0"/>
                <a:cs typeface="Times New Roman" panose="02020603050405020304" pitchFamily="18" charset="0"/>
              </a:rPr>
              <a:t>: Track shifting sentiments on news, events, or policies.</a:t>
            </a:r>
          </a:p>
          <a:p>
            <a:pPr marL="539750" indent="-457200" algn="just">
              <a:lnSpc>
                <a:spcPct val="150000"/>
              </a:lnSpc>
              <a:buClr>
                <a:srgbClr val="000000"/>
              </a:buClr>
              <a:buFont typeface="+mj-lt"/>
              <a:buAutoNum type="arabicPeriod"/>
            </a:pPr>
            <a:r>
              <a:rPr lang="en-US" sz="1900" b="1" dirty="0">
                <a:latin typeface="Times New Roman" panose="02020603050405020304" pitchFamily="18" charset="0"/>
                <a:cs typeface="Times New Roman" panose="02020603050405020304" pitchFamily="18" charset="0"/>
              </a:rPr>
              <a:t>Market Research and BI</a:t>
            </a:r>
            <a:r>
              <a:rPr lang="en-US" sz="1900" dirty="0">
                <a:latin typeface="Times New Roman" panose="02020603050405020304" pitchFamily="18" charset="0"/>
                <a:cs typeface="Times New Roman" panose="02020603050405020304" pitchFamily="18" charset="0"/>
              </a:rPr>
              <a:t>: Sentiment analysis provides a continuous feedback loop and data-driven insights that inform marketing, sales, and product strategies.</a:t>
            </a:r>
          </a:p>
          <a:p>
            <a:pPr marL="539750" indent="-457200" algn="just">
              <a:lnSpc>
                <a:spcPct val="150000"/>
              </a:lnSpc>
              <a:buClr>
                <a:srgbClr val="000000"/>
              </a:buClr>
              <a:buFont typeface="+mj-lt"/>
              <a:buAutoNum type="arabicPeriod"/>
            </a:pPr>
            <a:r>
              <a:rPr lang="en-US" sz="1900" b="1" dirty="0">
                <a:latin typeface="Times New Roman" panose="02020603050405020304" pitchFamily="18" charset="0"/>
                <a:cs typeface="Times New Roman" panose="02020603050405020304" pitchFamily="18" charset="0"/>
              </a:rPr>
              <a:t>Political Campaign Monitoring</a:t>
            </a:r>
            <a:r>
              <a:rPr lang="en-US" sz="1900" dirty="0">
                <a:latin typeface="Times New Roman" panose="02020603050405020304" pitchFamily="18" charset="0"/>
                <a:cs typeface="Times New Roman" panose="02020603050405020304" pitchFamily="18" charset="0"/>
              </a:rPr>
              <a:t>: Analyze voter moods and election trends.</a:t>
            </a:r>
          </a:p>
          <a:p>
            <a:pPr marL="539750" indent="-457200" algn="just">
              <a:lnSpc>
                <a:spcPct val="150000"/>
              </a:lnSpc>
              <a:buClr>
                <a:srgbClr val="000000"/>
              </a:buClr>
              <a:buFont typeface="+mj-lt"/>
              <a:buAutoNum type="arabicPeriod"/>
            </a:pPr>
            <a:r>
              <a:rPr lang="en-US" sz="1900" b="1" dirty="0">
                <a:latin typeface="Times New Roman" panose="02020603050405020304" pitchFamily="18" charset="0"/>
                <a:cs typeface="Times New Roman" panose="02020603050405020304" pitchFamily="18" charset="0"/>
              </a:rPr>
              <a:t>Product Improvement: </a:t>
            </a:r>
            <a:r>
              <a:rPr lang="en-US" sz="1900" dirty="0">
                <a:latin typeface="Times New Roman" panose="02020603050405020304" pitchFamily="18" charset="0"/>
                <a:cs typeface="Times New Roman" panose="02020603050405020304" pitchFamily="18" charset="0"/>
              </a:rPr>
              <a:t>Analyze feedback to spot common complaints or compliments, which can guide product development and innovation to better meet customer needs.</a:t>
            </a:r>
          </a:p>
          <a:p>
            <a:pPr marL="539750" indent="-457200" algn="just">
              <a:lnSpc>
                <a:spcPct val="150000"/>
              </a:lnSpc>
              <a:buClr>
                <a:srgbClr val="000000"/>
              </a:buClr>
              <a:buFont typeface="+mj-lt"/>
              <a:buAutoNum type="arabicPeriod"/>
            </a:pPr>
            <a:r>
              <a:rPr lang="en-US" sz="1900" b="1" dirty="0">
                <a:latin typeface="Times New Roman" panose="02020603050405020304" pitchFamily="18" charset="0"/>
                <a:cs typeface="Times New Roman" panose="02020603050405020304" pitchFamily="18" charset="0"/>
              </a:rPr>
              <a:t>Trend and Influencer Identification: </a:t>
            </a:r>
            <a:r>
              <a:rPr lang="en-US" sz="1900" dirty="0">
                <a:latin typeface="Times New Roman" panose="02020603050405020304" pitchFamily="18" charset="0"/>
                <a:cs typeface="Times New Roman" panose="02020603050405020304" pitchFamily="18" charset="0"/>
              </a:rPr>
              <a:t>Detect emerging trends and influential voices by analyzing sentiment dynamics in social media, enabling brands to align marketing strategies and collaborate with key influencers.</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066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Image result for knsit logo">
            <a:hlinkClick r:id="rId4"/>
          </p:cNvPr>
          <p:cNvPicPr>
            <a:picLocks noChangeAspect="1" noChangeArrowheads="1"/>
          </p:cNvPicPr>
          <p:nvPr/>
        </p:nvPicPr>
        <p:blipFill>
          <a:blip r:embed="rId5"/>
          <a:srcRect/>
          <a:stretch>
            <a:fillRect/>
          </a:stretch>
        </p:blipFill>
        <p:spPr bwMode="auto">
          <a:xfrm>
            <a:off x="8181975" y="0"/>
            <a:ext cx="962025" cy="857251"/>
          </a:xfrm>
          <a:prstGeom prst="rect">
            <a:avLst/>
          </a:prstGeom>
          <a:noFill/>
        </p:spPr>
      </p:pic>
      <p:sp>
        <p:nvSpPr>
          <p:cNvPr id="8" name="Slide Number Placeholder 7"/>
          <p:cNvSpPr>
            <a:spLocks noGrp="1"/>
          </p:cNvSpPr>
          <p:nvPr>
            <p:ph type="sldNum" sz="quarter" idx="12"/>
          </p:nvPr>
        </p:nvSpPr>
        <p:spPr>
          <a:xfrm>
            <a:off x="4756785" y="6305550"/>
            <a:ext cx="4314190" cy="476250"/>
          </a:xfrm>
        </p:spPr>
        <p:txBody>
          <a:bodyPr/>
          <a:lstStyle/>
          <a:p>
            <a:pPr algn="l"/>
            <a:r>
              <a:rPr lang="en-US" dirty="0"/>
              <a:t>     </a:t>
            </a:r>
            <a:fld id="{348AA8EC-93FC-4A73-8ED3-9C6F6CB809D0}" type="slidenum">
              <a:rPr lang="en-US" smtClean="0"/>
              <a:t>27</a:t>
            </a:fld>
            <a:r>
              <a:rPr lang="en-US" dirty="0"/>
              <a:t>                                                                  </a:t>
            </a:r>
            <a:r>
              <a:rPr lang="en-US" dirty="0">
                <a:sym typeface="+mn-ea"/>
              </a:rPr>
              <a:t>Dept of AIML</a:t>
            </a:r>
            <a:endParaRPr lang="en-US" dirty="0"/>
          </a:p>
        </p:txBody>
      </p:sp>
      <p:sp>
        <p:nvSpPr>
          <p:cNvPr id="4" name="Footer Placeholder 3">
            <a:extLst>
              <a:ext uri="{FF2B5EF4-FFF2-40B4-BE49-F238E27FC236}">
                <a16:creationId xmlns:a16="http://schemas.microsoft.com/office/drawing/2014/main" id="{62BF973E-B200-1F2B-C08E-A3A91C74D4C1}"/>
              </a:ext>
            </a:extLst>
          </p:cNvPr>
          <p:cNvSpPr>
            <a:spLocks noGrp="1"/>
          </p:cNvSpPr>
          <p:nvPr>
            <p:ph type="ftr" sz="quarter" idx="11"/>
          </p:nvPr>
        </p:nvSpPr>
        <p:spPr>
          <a:xfrm>
            <a:off x="990600" y="6381750"/>
            <a:ext cx="2895600" cy="476250"/>
          </a:xfrm>
        </p:spPr>
        <p:txBody>
          <a:bodyPr/>
          <a:lstStyle/>
          <a:p>
            <a:r>
              <a:rPr lang="en-US" dirty="0"/>
              <a:t>PREDICTIVE ANALYTICS ON TWITTER SENTIMENT DATA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9165EF-42EE-6907-CB4E-447C175242AD}"/>
              </a:ext>
            </a:extLst>
          </p:cNvPr>
          <p:cNvSpPr>
            <a:spLocks noGrp="1"/>
          </p:cNvSpPr>
          <p:nvPr>
            <p:ph type="ftr" sz="quarter" idx="11"/>
          </p:nvPr>
        </p:nvSpPr>
        <p:spPr/>
        <p:txBody>
          <a:bodyPr/>
          <a:lstStyle/>
          <a:p>
            <a:r>
              <a:rPr lang="en-US" dirty="0"/>
              <a:t>PREDICTIVE ANALYTICS ON TWITTER SENTIMENT DATA</a:t>
            </a:r>
          </a:p>
        </p:txBody>
      </p:sp>
      <p:sp>
        <p:nvSpPr>
          <p:cNvPr id="5" name="Slide Number Placeholder 4">
            <a:extLst>
              <a:ext uri="{FF2B5EF4-FFF2-40B4-BE49-F238E27FC236}">
                <a16:creationId xmlns:a16="http://schemas.microsoft.com/office/drawing/2014/main" id="{EB266FB7-7F5C-AB54-11B2-488BA61943E5}"/>
              </a:ext>
            </a:extLst>
          </p:cNvPr>
          <p:cNvSpPr>
            <a:spLocks noGrp="1"/>
          </p:cNvSpPr>
          <p:nvPr>
            <p:ph type="sldNum" sz="quarter" idx="12"/>
          </p:nvPr>
        </p:nvSpPr>
        <p:spPr>
          <a:xfrm>
            <a:off x="4876800" y="6305550"/>
            <a:ext cx="457200" cy="476250"/>
          </a:xfrm>
        </p:spPr>
        <p:txBody>
          <a:bodyPr/>
          <a:lstStyle/>
          <a:p>
            <a:fld id="{348AA8EC-93FC-4A73-8ED3-9C6F6CB809D0}" type="slidenum">
              <a:rPr lang="en-US" smtClean="0"/>
              <a:t>28</a:t>
            </a:fld>
            <a:endParaRPr lang="en-US" dirty="0"/>
          </a:p>
        </p:txBody>
      </p:sp>
      <p:sp>
        <p:nvSpPr>
          <p:cNvPr id="8" name="Title 1">
            <a:extLst>
              <a:ext uri="{FF2B5EF4-FFF2-40B4-BE49-F238E27FC236}">
                <a16:creationId xmlns:a16="http://schemas.microsoft.com/office/drawing/2014/main" id="{2E86618A-EEB2-EBF7-B58A-D4A2E0CFB39F}"/>
              </a:ext>
            </a:extLst>
          </p:cNvPr>
          <p:cNvSpPr txBox="1">
            <a:spLocks/>
          </p:cNvSpPr>
          <p:nvPr/>
        </p:nvSpPr>
        <p:spPr>
          <a:xfrm>
            <a:off x="1295400" y="228600"/>
            <a:ext cx="7406640" cy="841482"/>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lgn="ctr"/>
            <a:r>
              <a:rPr lang="en-US"/>
              <a:t>FUTURE SCOPE</a:t>
            </a:r>
            <a:endParaRPr lang="en-IN" dirty="0"/>
          </a:p>
        </p:txBody>
      </p:sp>
      <p:sp>
        <p:nvSpPr>
          <p:cNvPr id="9" name="Rectangle 1">
            <a:extLst>
              <a:ext uri="{FF2B5EF4-FFF2-40B4-BE49-F238E27FC236}">
                <a16:creationId xmlns:a16="http://schemas.microsoft.com/office/drawing/2014/main" id="{D7F224B1-7FDC-6295-B5C1-E6ADCC6553EE}"/>
              </a:ext>
            </a:extLst>
          </p:cNvPr>
          <p:cNvSpPr txBox="1">
            <a:spLocks noChangeArrowheads="1"/>
          </p:cNvSpPr>
          <p:nvPr/>
        </p:nvSpPr>
        <p:spPr bwMode="auto">
          <a:xfrm>
            <a:off x="1302774" y="1219200"/>
            <a:ext cx="7025640" cy="514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altLang="en-US" sz="1700">
                <a:latin typeface="Times New Roman" panose="02020603050405020304" pitchFamily="18" charset="0"/>
                <a:cs typeface="Times New Roman" panose="02020603050405020304" pitchFamily="18" charset="0"/>
              </a:rPr>
              <a:t>The system can be enhanced using </a:t>
            </a:r>
            <a:r>
              <a:rPr lang="en-US" altLang="en-US" sz="1700" b="1">
                <a:latin typeface="Times New Roman" panose="02020603050405020304" pitchFamily="18" charset="0"/>
                <a:cs typeface="Times New Roman" panose="02020603050405020304" pitchFamily="18" charset="0"/>
              </a:rPr>
              <a:t>advanced machine learning and deep learning models</a:t>
            </a:r>
            <a:r>
              <a:rPr lang="en-US" altLang="en-US" sz="1700">
                <a:latin typeface="Times New Roman" panose="02020603050405020304" pitchFamily="18" charset="0"/>
                <a:cs typeface="Times New Roman" panose="02020603050405020304" pitchFamily="18" charset="0"/>
              </a:rPr>
              <a:t> like LSTM, BERT, or transformers for improved prediction accuracy.</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altLang="en-US" sz="1700">
                <a:latin typeface="Times New Roman" panose="02020603050405020304" pitchFamily="18" charset="0"/>
                <a:cs typeface="Times New Roman" panose="02020603050405020304" pitchFamily="18" charset="0"/>
              </a:rPr>
              <a:t>It can be expanded to perform </a:t>
            </a:r>
            <a:r>
              <a:rPr lang="en-US" altLang="en-US" sz="1700" b="1">
                <a:latin typeface="Times New Roman" panose="02020603050405020304" pitchFamily="18" charset="0"/>
                <a:cs typeface="Times New Roman" panose="02020603050405020304" pitchFamily="18" charset="0"/>
              </a:rPr>
              <a:t>real-time sentiment analysis</a:t>
            </a:r>
            <a:r>
              <a:rPr lang="en-US" altLang="en-US" sz="1700">
                <a:latin typeface="Times New Roman" panose="02020603050405020304" pitchFamily="18" charset="0"/>
                <a:cs typeface="Times New Roman" panose="02020603050405020304" pitchFamily="18" charset="0"/>
              </a:rPr>
              <a:t> on live social media data streams.</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altLang="en-US" sz="1700">
                <a:latin typeface="Times New Roman" panose="02020603050405020304" pitchFamily="18" charset="0"/>
                <a:cs typeface="Times New Roman" panose="02020603050405020304" pitchFamily="18" charset="0"/>
              </a:rPr>
              <a:t>Future versions can include </a:t>
            </a:r>
            <a:r>
              <a:rPr lang="en-US" altLang="en-US" sz="1700" b="1">
                <a:latin typeface="Times New Roman" panose="02020603050405020304" pitchFamily="18" charset="0"/>
                <a:cs typeface="Times New Roman" panose="02020603050405020304" pitchFamily="18" charset="0"/>
              </a:rPr>
              <a:t>multi-language sentiment detection</a:t>
            </a:r>
            <a:r>
              <a:rPr lang="en-US" altLang="en-US" sz="1700">
                <a:latin typeface="Times New Roman" panose="02020603050405020304" pitchFamily="18" charset="0"/>
                <a:cs typeface="Times New Roman" panose="02020603050405020304" pitchFamily="18" charset="0"/>
              </a:rPr>
              <a:t> to analyze global user opinions.</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altLang="en-US" sz="1700">
                <a:latin typeface="Times New Roman" panose="02020603050405020304" pitchFamily="18" charset="0"/>
                <a:cs typeface="Times New Roman" panose="02020603050405020304" pitchFamily="18" charset="0"/>
              </a:rPr>
              <a:t>Integration of </a:t>
            </a:r>
            <a:r>
              <a:rPr lang="en-US" altLang="en-US" sz="1700" b="1">
                <a:latin typeface="Times New Roman" panose="02020603050405020304" pitchFamily="18" charset="0"/>
                <a:cs typeface="Times New Roman" panose="02020603050405020304" pitchFamily="18" charset="0"/>
              </a:rPr>
              <a:t>emotion and topic classification</a:t>
            </a:r>
            <a:r>
              <a:rPr lang="en-US" altLang="en-US" sz="1700">
                <a:latin typeface="Times New Roman" panose="02020603050405020304" pitchFamily="18" charset="0"/>
                <a:cs typeface="Times New Roman" panose="02020603050405020304" pitchFamily="18" charset="0"/>
              </a:rPr>
              <a:t> can provide deeper insights into public discussions.</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altLang="en-US" sz="1700">
                <a:latin typeface="Times New Roman" panose="02020603050405020304" pitchFamily="18" charset="0"/>
                <a:cs typeface="Times New Roman" panose="02020603050405020304" pitchFamily="18" charset="0"/>
              </a:rPr>
              <a:t>A </a:t>
            </a:r>
            <a:r>
              <a:rPr lang="en-US" altLang="en-US" sz="1700" b="1">
                <a:latin typeface="Times New Roman" panose="02020603050405020304" pitchFamily="18" charset="0"/>
                <a:cs typeface="Times New Roman" panose="02020603050405020304" pitchFamily="18" charset="0"/>
              </a:rPr>
              <a:t>real-time interactive dashboard</a:t>
            </a:r>
            <a:r>
              <a:rPr lang="en-US" altLang="en-US" sz="1700">
                <a:latin typeface="Times New Roman" panose="02020603050405020304" pitchFamily="18" charset="0"/>
                <a:cs typeface="Times New Roman" panose="02020603050405020304" pitchFamily="18" charset="0"/>
              </a:rPr>
              <a:t> can be developed for visualizing sentiment trends and analytics.</a:t>
            </a:r>
          </a:p>
          <a:p>
            <a:pPr marL="285750" indent="-285750" eaLnBrk="0" fontAlgn="base" hangingPunct="0">
              <a:lnSpc>
                <a:spcPct val="150000"/>
              </a:lnSpc>
              <a:spcBef>
                <a:spcPct val="0"/>
              </a:spcBef>
              <a:spcAft>
                <a:spcPct val="0"/>
              </a:spcAft>
              <a:buClrTx/>
              <a:buSzTx/>
              <a:buFont typeface="Arial" panose="020B0604020202020204" pitchFamily="34" charset="0"/>
              <a:buChar char="•"/>
            </a:pPr>
            <a:r>
              <a:rPr lang="en-US" altLang="en-US" sz="1700" b="1">
                <a:latin typeface="Times New Roman" panose="02020603050405020304" pitchFamily="18" charset="0"/>
                <a:cs typeface="Times New Roman" panose="02020603050405020304" pitchFamily="18" charset="0"/>
              </a:rPr>
              <a:t>Predictive trend forecasting</a:t>
            </a:r>
            <a:r>
              <a:rPr lang="en-US" altLang="en-US" sz="1700">
                <a:latin typeface="Times New Roman" panose="02020603050405020304" pitchFamily="18" charset="0"/>
                <a:cs typeface="Times New Roman" panose="02020603050405020304" pitchFamily="18" charset="0"/>
              </a:rPr>
              <a:t> can help businesses and policymakers anticipate public reactions and market shifts.</a:t>
            </a:r>
            <a:endParaRPr lang="en-US" altLang="en-US" sz="1700" dirty="0">
              <a:latin typeface="Times New Roman" panose="02020603050405020304" pitchFamily="18" charset="0"/>
              <a:cs typeface="Times New Roman" panose="02020603050405020304" pitchFamily="18" charset="0"/>
            </a:endParaRPr>
          </a:p>
        </p:txBody>
      </p:sp>
      <p:sp>
        <p:nvSpPr>
          <p:cNvPr id="2" name="Slide Number Placeholder 5">
            <a:extLst>
              <a:ext uri="{FF2B5EF4-FFF2-40B4-BE49-F238E27FC236}">
                <a16:creationId xmlns:a16="http://schemas.microsoft.com/office/drawing/2014/main" id="{3770FB1A-6C12-F446-1C58-2265BFD28B6C}"/>
              </a:ext>
            </a:extLst>
          </p:cNvPr>
          <p:cNvSpPr txBox="1">
            <a:spLocks/>
          </p:cNvSpPr>
          <p:nvPr/>
        </p:nvSpPr>
        <p:spPr>
          <a:xfrm>
            <a:off x="7664245" y="6324600"/>
            <a:ext cx="1447800" cy="476250"/>
          </a:xfrm>
          <a:prstGeom prst="rect">
            <a:avLst/>
          </a:prstGeom>
        </p:spPr>
        <p:txBody>
          <a:bodyPr anchor="b"/>
          <a:lstStyle>
            <a:defPPr>
              <a:defRPr lang="en-US"/>
            </a:defPPr>
            <a:lvl1pPr marL="0" algn="ctr"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Dept of AIML</a:t>
            </a:r>
          </a:p>
        </p:txBody>
      </p:sp>
    </p:spTree>
    <p:extLst>
      <p:ext uri="{BB962C8B-B14F-4D97-AF65-F5344CB8AC3E}">
        <p14:creationId xmlns:p14="http://schemas.microsoft.com/office/powerpoint/2010/main" val="1242131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6449"/>
            <a:ext cx="8077200" cy="1076551"/>
          </a:xfrm>
        </p:spPr>
        <p:txBody>
          <a:bodyPr>
            <a:normAutofit/>
          </a:bodyPr>
          <a:lstStyle/>
          <a:p>
            <a:pPr algn="ctr"/>
            <a:r>
              <a:rPr lang="en-US" sz="3200" dirty="0"/>
              <a:t>Conclusion</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63991"/>
            <a:ext cx="12684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1295400" y="1338580"/>
            <a:ext cx="7498080" cy="4966970"/>
          </a:xfrm>
        </p:spPr>
        <p:txBody>
          <a:bodyPr>
            <a:normAutofit/>
          </a:bodyPr>
          <a:lstStyle/>
          <a:p>
            <a:pPr algn="just">
              <a:buNone/>
            </a:pPr>
            <a:endParaRPr lang="en-US" sz="2400" dirty="0">
              <a:latin typeface="Times New Roman" panose="02020603050405020304" pitchFamily="18" charset="0"/>
              <a:cs typeface="Times New Roman" panose="02020603050405020304" pitchFamily="18" charset="0"/>
            </a:endParaRPr>
          </a:p>
          <a:p>
            <a:pPr algn="just">
              <a:lnSpc>
                <a:spcPct val="150000"/>
              </a:lnSpc>
              <a:buNone/>
            </a:pPr>
            <a:r>
              <a:rPr lang="en-US" sz="1700" dirty="0">
                <a:latin typeface="Times New Roman" panose="02020603050405020304" pitchFamily="18" charset="0"/>
                <a:cs typeface="Times New Roman" panose="02020603050405020304" pitchFamily="18" charset="0"/>
              </a:rPr>
              <a:t>    The project on sentiment analysis of social media data demonstrates how machine learning techniques can classify public opinions as positive, negative, or neutral. It shows the power of analyzing large volumes of text to gain real-time insights into customer sentiment, helping businesses improve brand reputation, customer service, and marketing strategies. The project highlights sentiment analysis as a valuable tool for understanding consumer behavior and supporting data-driven decisions. Future improvements could focus on handling sarcasm, context, and multiple languages to enhance accuracy. This work confirms the importance of sentiment analysis in today’s digital world. </a:t>
            </a:r>
          </a:p>
        </p:txBody>
      </p:sp>
      <p:pic>
        <p:nvPicPr>
          <p:cNvPr id="3074" name="Picture 2" descr="Image result for knsit logo">
            <a:hlinkClick r:id="rId4"/>
          </p:cNvPr>
          <p:cNvPicPr>
            <a:picLocks noChangeAspect="1" noChangeArrowheads="1"/>
          </p:cNvPicPr>
          <p:nvPr/>
        </p:nvPicPr>
        <p:blipFill>
          <a:blip r:embed="rId5"/>
          <a:srcRect/>
          <a:stretch>
            <a:fillRect/>
          </a:stretch>
        </p:blipFill>
        <p:spPr bwMode="auto">
          <a:xfrm>
            <a:off x="8077200" y="63991"/>
            <a:ext cx="962025" cy="857251"/>
          </a:xfrm>
          <a:prstGeom prst="rect">
            <a:avLst/>
          </a:prstGeom>
          <a:noFill/>
        </p:spPr>
      </p:pic>
      <p:sp>
        <p:nvSpPr>
          <p:cNvPr id="5" name="Slide Number Placeholder 4"/>
          <p:cNvSpPr>
            <a:spLocks noGrp="1"/>
          </p:cNvSpPr>
          <p:nvPr>
            <p:ph type="sldNum" sz="quarter" idx="12"/>
          </p:nvPr>
        </p:nvSpPr>
        <p:spPr>
          <a:xfrm>
            <a:off x="4604385" y="6305550"/>
            <a:ext cx="4466590" cy="476250"/>
          </a:xfrm>
        </p:spPr>
        <p:txBody>
          <a:bodyPr/>
          <a:lstStyle/>
          <a:p>
            <a:r>
              <a:rPr lang="en-US" dirty="0">
                <a:sym typeface="+mn-ea"/>
              </a:rPr>
              <a:t>26                                                                 Dept of AIML</a:t>
            </a:r>
            <a:endParaRPr lang="en-US" dirty="0"/>
          </a:p>
        </p:txBody>
      </p:sp>
      <p:sp>
        <p:nvSpPr>
          <p:cNvPr id="4" name="Footer Placeholder 3">
            <a:extLst>
              <a:ext uri="{FF2B5EF4-FFF2-40B4-BE49-F238E27FC236}">
                <a16:creationId xmlns:a16="http://schemas.microsoft.com/office/drawing/2014/main" id="{1ED105F7-AF76-CDBA-07FB-5A2594D79AFB}"/>
              </a:ext>
            </a:extLst>
          </p:cNvPr>
          <p:cNvSpPr>
            <a:spLocks noGrp="1"/>
          </p:cNvSpPr>
          <p:nvPr>
            <p:ph type="ftr" sz="quarter" idx="11"/>
          </p:nvPr>
        </p:nvSpPr>
        <p:spPr>
          <a:xfrm>
            <a:off x="990600" y="6381750"/>
            <a:ext cx="2895600" cy="476250"/>
          </a:xfrm>
        </p:spPr>
        <p:txBody>
          <a:bodyPr/>
          <a:lstStyle/>
          <a:p>
            <a:r>
              <a:rPr lang="en-US" dirty="0"/>
              <a:t>PREDICTIVE ANALYTICS ON TWITTER SENTIMENT DATA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6450"/>
            <a:ext cx="8077200" cy="538276"/>
          </a:xfrm>
        </p:spPr>
        <p:txBody>
          <a:bodyPr>
            <a:normAutofit fontScale="90000"/>
          </a:bodyPr>
          <a:lstStyle/>
          <a:p>
            <a:pPr algn="ctr"/>
            <a:r>
              <a:rPr lang="en-US" dirty="0"/>
              <a:t>References</a:t>
            </a:r>
          </a:p>
        </p:txBody>
      </p:sp>
      <p:sp>
        <p:nvSpPr>
          <p:cNvPr id="3" name="Content Placeholder 2"/>
          <p:cNvSpPr>
            <a:spLocks noGrp="1"/>
          </p:cNvSpPr>
          <p:nvPr>
            <p:ph idx="1"/>
          </p:nvPr>
        </p:nvSpPr>
        <p:spPr>
          <a:xfrm>
            <a:off x="990600" y="1140091"/>
            <a:ext cx="8001000" cy="5108309"/>
          </a:xfrm>
        </p:spPr>
        <p:txBody>
          <a:bodyPr>
            <a:noAutofit/>
          </a:bodyPr>
          <a:lstStyle/>
          <a:p>
            <a:pPr marL="82550" indent="0" algn="just">
              <a:lnSpc>
                <a:spcPct val="150000"/>
              </a:lnSpc>
              <a:buNone/>
            </a:pPr>
            <a:r>
              <a:rPr lang="en-IN" sz="1600" dirty="0">
                <a:latin typeface="Times New Roman" panose="02020603050405020304" pitchFamily="18" charset="0"/>
                <a:cs typeface="Times New Roman" panose="02020603050405020304" pitchFamily="18" charset="0"/>
              </a:rPr>
              <a:t>[1] </a:t>
            </a:r>
            <a:r>
              <a:rPr lang="en-IN" sz="1600" b="1" dirty="0">
                <a:latin typeface="Times New Roman" panose="02020603050405020304" pitchFamily="18" charset="0"/>
                <a:cs typeface="Times New Roman" panose="02020603050405020304" pitchFamily="18" charset="0"/>
              </a:rPr>
              <a:t>H. Herjanto, A. Utomo, and D. Saraswati</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“Sentiment analysis of SIREKAP-related news headlines,”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SAR Journal</a:t>
            </a:r>
            <a:r>
              <a:rPr lang="en-IN" sz="1600" dirty="0">
                <a:latin typeface="Times New Roman" panose="02020603050405020304" pitchFamily="18" charset="0"/>
                <a:cs typeface="Times New Roman" panose="02020603050405020304" pitchFamily="18" charset="0"/>
              </a:rPr>
              <a:t>, vol. 7, no. 3, pp. 204–212, 2024, doi: 10.18421/SAR73-06.</a:t>
            </a:r>
          </a:p>
          <a:p>
            <a:pPr marL="82550" indent="0" algn="just">
              <a:lnSpc>
                <a:spcPct val="150000"/>
              </a:lnSpc>
              <a:buNone/>
            </a:pPr>
            <a:r>
              <a:rPr lang="en-IN" sz="1600" dirty="0">
                <a:latin typeface="Times New Roman" panose="02020603050405020304" pitchFamily="18" charset="0"/>
                <a:cs typeface="Times New Roman" panose="02020603050405020304" pitchFamily="18" charset="0"/>
              </a:rPr>
              <a:t>[2</a:t>
            </a:r>
            <a:r>
              <a:rPr lang="en-IN" sz="1600" b="1" dirty="0">
                <a:latin typeface="Times New Roman" panose="02020603050405020304" pitchFamily="18" charset="0"/>
                <a:cs typeface="Times New Roman" panose="02020603050405020304" pitchFamily="18" charset="0"/>
              </a:rPr>
              <a:t>] S. Korani and M. Mouhoub, “Sentiment analysis of serious suicide references in Twitter social network,” </a:t>
            </a:r>
            <a:r>
              <a:rPr lang="en-IN" sz="1600" dirty="0">
                <a:latin typeface="Times New Roman" panose="02020603050405020304" pitchFamily="18" charset="0"/>
                <a:cs typeface="Times New Roman" panose="02020603050405020304" pitchFamily="18" charset="0"/>
              </a:rPr>
              <a:t>in </a:t>
            </a:r>
            <a:r>
              <a:rPr lang="en-IN" sz="1600" i="1" dirty="0">
                <a:latin typeface="Times New Roman" panose="02020603050405020304" pitchFamily="18" charset="0"/>
                <a:cs typeface="Times New Roman" panose="02020603050405020304" pitchFamily="18" charset="0"/>
              </a:rPr>
              <a:t>Proc</a:t>
            </a:r>
            <a:r>
              <a:rPr lang="en-IN" sz="1600" b="1" i="1" dirty="0">
                <a:latin typeface="Times New Roman" panose="02020603050405020304" pitchFamily="18" charset="0"/>
                <a:cs typeface="Times New Roman" panose="02020603050405020304" pitchFamily="18" charset="0"/>
              </a:rPr>
              <a:t>. ICAART 2024</a:t>
            </a:r>
            <a:r>
              <a:rPr lang="en-IN" sz="1600" dirty="0">
                <a:latin typeface="Times New Roman" panose="02020603050405020304" pitchFamily="18" charset="0"/>
                <a:cs typeface="Times New Roman" panose="02020603050405020304" pitchFamily="18" charset="0"/>
              </a:rPr>
              <a:t>, pp. 339–346, 2024, doi: 10.5220/0008894003390346.</a:t>
            </a:r>
          </a:p>
          <a:p>
            <a:pPr marL="82550" indent="0" algn="just">
              <a:lnSpc>
                <a:spcPct val="150000"/>
              </a:lnSpc>
              <a:buNone/>
            </a:pPr>
            <a:r>
              <a:rPr lang="en-IN" sz="1600" dirty="0">
                <a:latin typeface="Times New Roman" panose="02020603050405020304" pitchFamily="18" charset="0"/>
                <a:cs typeface="Times New Roman" panose="02020603050405020304" pitchFamily="18" charset="0"/>
              </a:rPr>
              <a:t>[3] </a:t>
            </a:r>
            <a:r>
              <a:rPr lang="en-IN" sz="1600" b="1" dirty="0">
                <a:latin typeface="Times New Roman" panose="02020603050405020304" pitchFamily="18" charset="0"/>
                <a:cs typeface="Times New Roman" panose="02020603050405020304" pitchFamily="18" charset="0"/>
              </a:rPr>
              <a:t>H. Herjanto and Carudin, “Analisis sentimen ulasan pengguna aplikasi Sirekap menggunakan algoritma Random Forest classifier,” </a:t>
            </a:r>
            <a:r>
              <a:rPr lang="en-IN" sz="1600" b="1" i="1" dirty="0">
                <a:latin typeface="Times New Roman" panose="02020603050405020304" pitchFamily="18" charset="0"/>
                <a:cs typeface="Times New Roman" panose="02020603050405020304" pitchFamily="18" charset="0"/>
              </a:rPr>
              <a:t>J. Inform. dan Tek. Elektro Terapan</a:t>
            </a:r>
            <a:r>
              <a:rPr lang="en-IN" sz="1600" dirty="0">
                <a:latin typeface="Times New Roman" panose="02020603050405020304" pitchFamily="18" charset="0"/>
                <a:cs typeface="Times New Roman" panose="02020603050405020304" pitchFamily="18" charset="0"/>
              </a:rPr>
              <a:t>, vol. 12, no. 2, pp. 4192–4201, 2024, doi: 10.23960/jitet.v12i2.4192.</a:t>
            </a:r>
          </a:p>
          <a:p>
            <a:pPr marL="82550" indent="0" algn="just">
              <a:lnSpc>
                <a:spcPct val="150000"/>
              </a:lnSpc>
              <a:buNone/>
            </a:pPr>
            <a:r>
              <a:rPr lang="en-IN" sz="1600" dirty="0">
                <a:latin typeface="Times New Roman" panose="02020603050405020304" pitchFamily="18" charset="0"/>
                <a:cs typeface="Times New Roman" panose="02020603050405020304" pitchFamily="18" charset="0"/>
              </a:rPr>
              <a:t>[4</a:t>
            </a:r>
            <a:r>
              <a:rPr lang="en-IN" sz="1600" b="1" dirty="0">
                <a:latin typeface="Times New Roman" panose="02020603050405020304" pitchFamily="18" charset="0"/>
                <a:cs typeface="Times New Roman" panose="02020603050405020304" pitchFamily="18" charset="0"/>
              </a:rPr>
              <a:t>] A. Prabowo, H. Sujaini, and T. Rismawan, “Analisis sentimen pengguna Twitter terhadap kasus COVID-19 menggunakan regresi logistik multinomial,” </a:t>
            </a:r>
            <a:r>
              <a:rPr lang="en-IN" sz="1600" i="1" dirty="0">
                <a:latin typeface="Times New Roman" panose="02020603050405020304" pitchFamily="18" charset="0"/>
                <a:cs typeface="Times New Roman" panose="02020603050405020304" pitchFamily="18" charset="0"/>
              </a:rPr>
              <a:t>J. Syst. Teknol. Inform. (JUSTIN)</a:t>
            </a:r>
            <a:r>
              <a:rPr lang="en-IN" sz="1600" dirty="0">
                <a:latin typeface="Times New Roman" panose="02020603050405020304" pitchFamily="18" charset="0"/>
                <a:cs typeface="Times New Roman" panose="02020603050405020304" pitchFamily="18" charset="0"/>
              </a:rPr>
              <a:t>, vol. 11, no. 1, pp. 57–66, 2023, doi: 10.26418/justin.v11i1.57450.</a:t>
            </a:r>
          </a:p>
          <a:p>
            <a:pPr marL="82550" indent="0" algn="just">
              <a:lnSpc>
                <a:spcPct val="150000"/>
              </a:lnSpc>
              <a:buNone/>
            </a:pPr>
            <a:r>
              <a:rPr lang="en-IN" sz="1600" dirty="0">
                <a:latin typeface="Times New Roman" panose="02020603050405020304" pitchFamily="18" charset="0"/>
                <a:cs typeface="Times New Roman" panose="02020603050405020304" pitchFamily="18" charset="0"/>
              </a:rPr>
              <a:t>[5] </a:t>
            </a:r>
            <a:r>
              <a:rPr lang="en-IN" sz="1600" b="1" dirty="0">
                <a:latin typeface="Times New Roman" panose="02020603050405020304" pitchFamily="18" charset="0"/>
                <a:cs typeface="Times New Roman" panose="02020603050405020304" pitchFamily="18" charset="0"/>
              </a:rPr>
              <a:t>J. Wang, J. Guo, J. Yuan, and B. Li, “Sentiment analysis of Twitter data: A survey,”</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Appl. Sci.</a:t>
            </a:r>
            <a:r>
              <a:rPr lang="en-IN" sz="1600" dirty="0">
                <a:latin typeface="Times New Roman" panose="02020603050405020304" pitchFamily="18" charset="0"/>
                <a:cs typeface="Times New Roman" panose="02020603050405020304" pitchFamily="18" charset="0"/>
              </a:rPr>
              <a:t>, vol. 12, no. 22, p. 11775, 2022, doi: 10.3390/app122211775.</a:t>
            </a:r>
          </a:p>
          <a:p>
            <a:pPr marL="82550" indent="0" algn="just">
              <a:lnSpc>
                <a:spcPct val="150000"/>
              </a:lnSpc>
              <a:buClr>
                <a:srgbClr val="000000"/>
              </a:buClr>
              <a:buFont typeface="Segoe UI" panose="020B0502040204020203" charset="0"/>
              <a:buNone/>
            </a:pPr>
            <a:endParaRPr lang="en-US" altLang="en-US" sz="1600"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
            <a:ext cx="1268413" cy="85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304801" y="900502"/>
            <a:ext cx="8573190" cy="954107"/>
          </a:xfrm>
          <a:prstGeom prst="rect">
            <a:avLst/>
          </a:prstGeom>
        </p:spPr>
        <p:txBody>
          <a:bodyPr wrap="square">
            <a:spAutoFit/>
          </a:bodyPr>
          <a:lstStyle/>
          <a:p>
            <a:pPr algn="just">
              <a:lnSpc>
                <a:spcPct val="150000"/>
              </a:lnSpc>
            </a:pPr>
            <a:endParaRPr lang="en-US" sz="1600" dirty="0"/>
          </a:p>
          <a:p>
            <a:pPr algn="just"/>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7" name="Picture 2" descr="Image result for knsit logo">
            <a:hlinkClick r:id="rId4"/>
          </p:cNvPr>
          <p:cNvPicPr>
            <a:picLocks noChangeAspect="1" noChangeArrowheads="1"/>
          </p:cNvPicPr>
          <p:nvPr/>
        </p:nvPicPr>
        <p:blipFill>
          <a:blip r:embed="rId5"/>
          <a:srcRect/>
          <a:stretch>
            <a:fillRect/>
          </a:stretch>
        </p:blipFill>
        <p:spPr bwMode="auto">
          <a:xfrm>
            <a:off x="8077200" y="63991"/>
            <a:ext cx="962025" cy="857251"/>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775" y="380774"/>
            <a:ext cx="8077200" cy="4886551"/>
          </a:xfrm>
        </p:spPr>
        <p:txBody>
          <a:bodyPr>
            <a:normAutofit/>
          </a:bodyPr>
          <a:lstStyle/>
          <a:p>
            <a:pPr algn="ctr"/>
            <a:r>
              <a:rPr lang="en-US" dirty="0"/>
              <a:t>Thank You</a:t>
            </a:r>
          </a:p>
        </p:txBody>
      </p:sp>
      <p:sp>
        <p:nvSpPr>
          <p:cNvPr id="3" name="Content Placeholder 2"/>
          <p:cNvSpPr>
            <a:spLocks noGrp="1"/>
          </p:cNvSpPr>
          <p:nvPr>
            <p:ph idx="1"/>
          </p:nvPr>
        </p:nvSpPr>
        <p:spPr>
          <a:xfrm>
            <a:off x="1143000" y="1298575"/>
            <a:ext cx="7924800" cy="5864225"/>
          </a:xfrm>
        </p:spPr>
        <p:txBody>
          <a:bodyPr>
            <a:normAutofit/>
          </a:bodyPr>
          <a:lstStyle/>
          <a:p>
            <a:pPr marL="82550" indent="0">
              <a:buNone/>
            </a:pPr>
            <a:endParaRPr lang="en-US" dirty="0">
              <a:latin typeface="Times New Roman" panose="02020603050405020304" pitchFamily="18" charset="0"/>
              <a:cs typeface="Times New Roman" panose="02020603050405020304" pitchFamily="18" charset="0"/>
            </a:endParaRPr>
          </a:p>
          <a:p>
            <a:pPr marL="82550" indent="0">
              <a:buNone/>
            </a:pPr>
            <a:endParaRPr lang="en-US"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0"/>
            <a:ext cx="1268413"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Image result for knsit logo">
            <a:hlinkClick r:id="rId4"/>
          </p:cNvPr>
          <p:cNvPicPr>
            <a:picLocks noChangeAspect="1" noChangeArrowheads="1"/>
          </p:cNvPicPr>
          <p:nvPr/>
        </p:nvPicPr>
        <p:blipFill>
          <a:blip r:embed="rId5"/>
          <a:srcRect/>
          <a:stretch>
            <a:fillRect/>
          </a:stretch>
        </p:blipFill>
        <p:spPr bwMode="auto">
          <a:xfrm>
            <a:off x="8074742" y="193675"/>
            <a:ext cx="962025" cy="857251"/>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1333</TotalTime>
  <Words>2523</Words>
  <Application>Microsoft Office PowerPoint</Application>
  <PresentationFormat>On-screen Show (4:3)</PresentationFormat>
  <Paragraphs>282</Paragraphs>
  <Slides>31</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Calibri</vt:lpstr>
      <vt:lpstr>Cambria Math</vt:lpstr>
      <vt:lpstr>Gill Sans MT</vt:lpstr>
      <vt:lpstr>Segoe UI</vt:lpstr>
      <vt:lpstr>Times New Roman</vt:lpstr>
      <vt:lpstr>Verdana</vt:lpstr>
      <vt:lpstr>Wingdings</vt:lpstr>
      <vt:lpstr>Wingdings 2</vt:lpstr>
      <vt:lpstr>Solstice</vt:lpstr>
      <vt:lpstr>PROJECT PHASE -I  PRESENTATION ON  PREDICTIVE ANALYTICS ON SOCIAL MEDIA SENTIMENT DATA</vt:lpstr>
      <vt:lpstr>              Contents</vt:lpstr>
      <vt:lpstr>Abstract</vt:lpstr>
      <vt:lpstr>Introduction </vt:lpstr>
      <vt:lpstr>Literature Survey</vt:lpstr>
      <vt:lpstr>Objectives and Methodology</vt:lpstr>
      <vt:lpstr>PowerPoint Presentation</vt:lpstr>
      <vt:lpstr>Block Diagram</vt:lpstr>
      <vt:lpstr>Hardware Components Explanation</vt:lpstr>
      <vt:lpstr>Software Requirements</vt:lpstr>
      <vt:lpstr>Algorithm Explanation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Shahnawaz Alam</cp:lastModifiedBy>
  <cp:revision>322</cp:revision>
  <dcterms:created xsi:type="dcterms:W3CDTF">2014-11-19T17:15:00Z</dcterms:created>
  <dcterms:modified xsi:type="dcterms:W3CDTF">2026-01-09T05:19:17Z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39E939658FBC497CAC19AA4924250011_12</vt:lpwstr>
  </property>
  <property fmtid="{D5CDD505-2E9C-101B-9397-08002B2CF9AE}" pid="3" name="KSOProductBuildVer">
    <vt:lpwstr>1033-12.2.0.20795</vt:lpwstr>
  </property>
</Properties>
</file>